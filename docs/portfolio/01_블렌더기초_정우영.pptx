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Relationship Id="rId3" Type="http://schemas.openxmlformats.org/officeDocument/2006/relationships/image" Target="../media/image3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jpg"/><Relationship Id="rId7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0"/>
            <a:ext cx="5669280" cy="1005840"/>
          </a:xfrm>
        </p:spPr>
        <p:txBody>
          <a:bodyPr lIns="0" rIns="0" anchor="ctr"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맑은 고딕"/>
                <a:ea typeface="맑은 고딕"/>
              </a:rPr>
              <a:t>Purrcelain Panic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60604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블렌더 기초 — AI 에셋 게임용 정리 포트폴리오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CAD6E8"/>
                </a:solidFill>
                <a:latin typeface="맑은 고딕"/>
                <a:ea typeface="맑은 고딕"/>
              </a:rPr>
              <a:t>VARCO 3D 리소스를 Blender와 Claude로 정리해 Unity용 FBX로 출력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0624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CAD6E8"/>
                </a:solidFill>
                <a:latin typeface="맑은 고딕"/>
                <a:ea typeface="맑은 고딕"/>
              </a:rPr>
              <a:t>훈련생   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정우영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CAD6E8"/>
                </a:solidFill>
                <a:latin typeface="맑은 고딕"/>
                <a:ea typeface="맑은 고딕"/>
              </a:rPr>
              <a:t>과정 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2026 대전 KNDA 게임 개발 과정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CAD6E8"/>
                </a:solidFill>
                <a:latin typeface="맑은 고딕"/>
                <a:ea typeface="맑은 고딕"/>
              </a:rPr>
              <a:t>저장소 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https://github.com/dnfltkagudwp-sys/Purrcelain-Panic</a:t>
            </a:r>
          </a:p>
        </p:txBody>
      </p:sp>
      <p:pic>
        <p:nvPicPr>
          <p:cNvPr id="5" name="CoverImage" descr="Captures_after_layout_push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98808"/>
            <a:ext cx="5440679" cy="3060382"/>
          </a:xfrm>
          <a:prstGeom prst="roundRect">
            <a:avLst>
              <a:gd name="adj" fmla="val 5378"/>
            </a:avLst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603504"/>
          </a:xfrm>
        </p:spPr>
        <p:txBody>
          <a:bodyPr lIns="0" rIns="0" anchor="ctr"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맑은 고딕"/>
                <a:ea typeface="맑은 고딕"/>
              </a:rPr>
              <a:t>한눈에 보기</a:t>
            </a:r>
          </a:p>
        </p:txBody>
      </p:sp>
      <p:sp>
        <p:nvSpPr>
          <p:cNvPr id="3" name="PageNumber"/>
          <p:cNvSpPr txBox="1"/>
          <p:nvPr/>
        </p:nvSpPr>
        <p:spPr>
          <a:xfrm>
            <a:off x="10820095" y="6446520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5F6776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514600" cy="4892040"/>
          </a:xfrm>
          <a:prstGeom prst="roundRect">
            <a:avLst>
              <a:gd name="adj" fmla="val 5818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Badge"/>
          <p:cNvSpPr/>
          <p:nvPr/>
        </p:nvSpPr>
        <p:spPr>
          <a:xfrm>
            <a:off x="685800" y="137160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371600"/>
            <a:ext cx="1600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B2A4A"/>
                </a:solidFill>
                <a:latin typeface="맑은 고딕"/>
                <a:ea typeface="맑은 고딕"/>
              </a:rPr>
              <a:t>게임 컨셉</a:t>
            </a:r>
          </a:p>
        </p:txBody>
      </p:sp>
      <p:pic>
        <p:nvPicPr>
          <p:cNvPr id="7" name="Picture 6" descr="Captures_after_layout_id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27458"/>
            <a:ext cx="2148840" cy="1208722"/>
          </a:xfrm>
          <a:prstGeom prst="roundRect">
            <a:avLst>
              <a:gd name="adj" fmla="val 7565"/>
            </a:avLst>
          </a:prstGeom>
        </p:spPr>
      </p:pic>
      <p:sp>
        <p:nvSpPr>
          <p:cNvPr id="8" name="TextBox 7"/>
          <p:cNvSpPr txBox="1"/>
          <p:nvPr/>
        </p:nvSpPr>
        <p:spPr>
          <a:xfrm>
            <a:off x="685800" y="4389120"/>
            <a:ext cx="2057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430"/>
                </a:solidFill>
                <a:latin typeface="맑은 고딕"/>
                <a:ea typeface="맑은 고딕"/>
              </a:rPr>
              <a:t>치즈냥이 도자기를
밀어 떨어뜨려 깨는 게임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44952" y="3017520"/>
            <a:ext cx="246888" cy="329184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64992" y="1188720"/>
            <a:ext cx="2514600" cy="4892040"/>
          </a:xfrm>
          <a:prstGeom prst="roundRect">
            <a:avLst>
              <a:gd name="adj" fmla="val 5818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Badge"/>
          <p:cNvSpPr/>
          <p:nvPr/>
        </p:nvSpPr>
        <p:spPr>
          <a:xfrm>
            <a:off x="3593592" y="137160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9664" y="1371600"/>
            <a:ext cx="1600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B2A4A"/>
                </a:solidFill>
                <a:latin typeface="맑은 고딕"/>
                <a:ea typeface="맑은 고딕"/>
              </a:rPr>
              <a:t>리소스</a:t>
            </a:r>
          </a:p>
        </p:txBody>
      </p:sp>
      <p:pic>
        <p:nvPicPr>
          <p:cNvPr id="13" name="Picture 12" descr="Concept_cat_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2057400"/>
            <a:ext cx="2148840" cy="2148840"/>
          </a:xfrm>
          <a:prstGeom prst="roundRect">
            <a:avLst>
              <a:gd name="adj" fmla="val 4255"/>
            </a:avLst>
          </a:prstGeom>
        </p:spPr>
      </p:pic>
      <p:sp>
        <p:nvSpPr>
          <p:cNvPr id="14" name="TextBox 13"/>
          <p:cNvSpPr txBox="1"/>
          <p:nvPr/>
        </p:nvSpPr>
        <p:spPr>
          <a:xfrm>
            <a:off x="3593592" y="4389120"/>
            <a:ext cx="2057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430"/>
                </a:solidFill>
                <a:latin typeface="맑은 고딕"/>
                <a:ea typeface="맑은 고딕"/>
              </a:rPr>
              <a:t>VARCO 3D로
고양이·식탁·도자기 생성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52744" y="3017520"/>
            <a:ext cx="246888" cy="329184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1188720"/>
            <a:ext cx="2514600" cy="4892040"/>
          </a:xfrm>
          <a:prstGeom prst="roundRect">
            <a:avLst>
              <a:gd name="adj" fmla="val 5818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Badge"/>
          <p:cNvSpPr/>
          <p:nvPr/>
        </p:nvSpPr>
        <p:spPr>
          <a:xfrm>
            <a:off x="6501384" y="137160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1371600"/>
            <a:ext cx="1600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B2A4A"/>
                </a:solidFill>
                <a:latin typeface="맑은 고딕"/>
                <a:ea typeface="맑은 고딕"/>
              </a:rPr>
              <a:t>정리 과정</a:t>
            </a:r>
          </a:p>
        </p:txBody>
      </p:sp>
      <p:pic>
        <p:nvPicPr>
          <p:cNvPr id="19" name="Picture 18" descr="Captures_process_P2_열린엣지_병합_전후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2416482"/>
            <a:ext cx="2148840" cy="1430675"/>
          </a:xfrm>
          <a:prstGeom prst="roundRect">
            <a:avLst>
              <a:gd name="adj" fmla="val 6391"/>
            </a:avLst>
          </a:prstGeom>
        </p:spPr>
      </p:pic>
      <p:sp>
        <p:nvSpPr>
          <p:cNvPr id="20" name="TextBox 19"/>
          <p:cNvSpPr txBox="1"/>
          <p:nvPr/>
        </p:nvSpPr>
        <p:spPr>
          <a:xfrm>
            <a:off x="6501384" y="4389120"/>
            <a:ext cx="2057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430"/>
                </a:solidFill>
                <a:latin typeface="맑은 고딕"/>
                <a:ea typeface="맑은 고딕"/>
              </a:rPr>
              <a:t>Blender + Claude로
게임에 맞게 정리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60536" y="3017520"/>
            <a:ext cx="246888" cy="329184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1188720"/>
            <a:ext cx="2514600" cy="4892040"/>
          </a:xfrm>
          <a:prstGeom prst="roundRect">
            <a:avLst>
              <a:gd name="adj" fmla="val 5818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Badge"/>
          <p:cNvSpPr/>
          <p:nvPr/>
        </p:nvSpPr>
        <p:spPr>
          <a:xfrm>
            <a:off x="9409176" y="137160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5248" y="1371600"/>
            <a:ext cx="1600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B2A4A"/>
                </a:solidFill>
                <a:latin typeface="맑은 고딕"/>
                <a:ea typeface="맑은 고딕"/>
              </a:rPr>
              <a:t>결과</a:t>
            </a:r>
          </a:p>
        </p:txBody>
      </p:sp>
      <p:pic>
        <p:nvPicPr>
          <p:cNvPr id="25" name="Picture 24" descr="Captures_unity_Unity_Compare_BeforeAfte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456" y="2594610"/>
            <a:ext cx="2148840" cy="1074420"/>
          </a:xfrm>
          <a:prstGeom prst="roundRect">
            <a:avLst>
              <a:gd name="adj" fmla="val 8510"/>
            </a:avLst>
          </a:prstGeom>
        </p:spPr>
      </p:pic>
      <p:sp>
        <p:nvSpPr>
          <p:cNvPr id="26" name="TextBox 25"/>
          <p:cNvSpPr txBox="1"/>
          <p:nvPr/>
        </p:nvSpPr>
        <p:spPr>
          <a:xfrm>
            <a:off x="9409176" y="4389120"/>
            <a:ext cx="2057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430"/>
                </a:solidFill>
                <a:latin typeface="맑은 고딕"/>
                <a:ea typeface="맑은 고딕"/>
              </a:rPr>
              <a:t>Unity용 FBX 5종
정리 전·후 비교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44068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F28C28"/>
                </a:solidFill>
                <a:latin typeface="맑은 고딕"/>
                <a:ea typeface="맑은 고딕"/>
              </a:rPr>
              <a:t>3쪽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93592" y="544068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F28C28"/>
                </a:solidFill>
                <a:latin typeface="맑은 고딕"/>
                <a:ea typeface="맑은 고딕"/>
              </a:rPr>
              <a:t>4–5쪽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1384" y="544068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F28C28"/>
                </a:solidFill>
                <a:latin typeface="맑은 고딕"/>
                <a:ea typeface="맑은 고딕"/>
              </a:rPr>
              <a:t>6–17쪽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9176" y="544068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F28C28"/>
                </a:solidFill>
                <a:latin typeface="맑은 고딕"/>
                <a:ea typeface="맑은 고딕"/>
              </a:rPr>
              <a:t>18–20쪽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463" y="274320"/>
            <a:ext cx="10308031" cy="603504"/>
          </a:xfrm>
        </p:spPr>
        <p:txBody>
          <a:bodyPr lIns="0" rIns="0" anchor="ctr"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맑은 고딕"/>
                <a:ea typeface="맑은 고딕"/>
              </a:rPr>
              <a:t>게임 컨셉</a:t>
            </a:r>
          </a:p>
        </p:txBody>
      </p:sp>
      <p:sp>
        <p:nvSpPr>
          <p:cNvPr id="3" name="Tag"/>
          <p:cNvSpPr/>
          <p:nvPr/>
        </p:nvSpPr>
        <p:spPr>
          <a:xfrm>
            <a:off x="457200" y="384048"/>
            <a:ext cx="786384" cy="38404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컨셉</a:t>
            </a:r>
          </a:p>
        </p:txBody>
      </p:sp>
      <p:sp>
        <p:nvSpPr>
          <p:cNvPr id="4" name="Progress"/>
          <p:cNvSpPr txBox="1"/>
          <p:nvPr/>
        </p:nvSpPr>
        <p:spPr>
          <a:xfrm>
            <a:off x="457200" y="644652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F28C28"/>
                </a:solidFill>
                <a:latin typeface="맑은 고딕"/>
                <a:ea typeface="맑은 고딕"/>
              </a:rPr>
              <a:t>1 컨셉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2 리소스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3 정리 과정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4 결과</a:t>
            </a:r>
          </a:p>
        </p:txBody>
      </p:sp>
      <p:sp>
        <p:nvSpPr>
          <p:cNvPr id="5" name="PageNumber"/>
          <p:cNvSpPr txBox="1"/>
          <p:nvPr/>
        </p:nvSpPr>
        <p:spPr>
          <a:xfrm>
            <a:off x="10820095" y="6446520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5F6776"/>
                </a:solidFill>
                <a:latin typeface="맑은 고딕"/>
                <a:ea typeface="맑은 고딕"/>
              </a:rPr>
              <a:t>3</a:t>
            </a:r>
          </a:p>
        </p:txBody>
      </p:sp>
      <p:pic>
        <p:nvPicPr>
          <p:cNvPr id="6" name="ConceptImage" descr="Captures_after_layout_id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68742"/>
            <a:ext cx="6675120" cy="3754755"/>
          </a:xfrm>
          <a:prstGeom prst="roundRect">
            <a:avLst>
              <a:gd name="adj" fmla="val 1948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7498079" y="1234440"/>
            <a:ext cx="4206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B2A4A"/>
                </a:solidFill>
                <a:latin typeface="맑은 고딕"/>
                <a:ea typeface="맑은 고딕"/>
              </a:rPr>
              <a:t>식탁 뒤에 기대 선 치즈냥이 앞발로 도자기를 밀어 떨어뜨려 깨는 게임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423160"/>
            <a:ext cx="4206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400" b="0">
                <a:solidFill>
                  <a:srgbClr val="1F2430"/>
                </a:solidFill>
                <a:latin typeface="맑은 고딕"/>
                <a:ea typeface="맑은 고딕"/>
              </a:rPr>
              <a:t>도자기가 점점 많이 생성되고 전부 깨는 재미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400" b="0">
                <a:solidFill>
                  <a:srgbClr val="1F2430"/>
                </a:solidFill>
                <a:latin typeface="맑은 고딕"/>
                <a:ea typeface="맑은 고딕"/>
              </a:rPr>
              <a:t>하체는 식탁에 가려져 걷기 대신 좌우 이동</a:t>
            </a:r>
          </a:p>
        </p:txBody>
      </p:sp>
      <p:sp>
        <p:nvSpPr>
          <p:cNvPr id="9" name="Badge"/>
          <p:cNvSpPr/>
          <p:nvPr/>
        </p:nvSpPr>
        <p:spPr>
          <a:xfrm>
            <a:off x="7498079" y="3968496"/>
            <a:ext cx="365760" cy="3657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393192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1B2A4A"/>
                </a:solidFill>
                <a:latin typeface="맑은 고딕"/>
                <a:ea typeface="맑은 고딕"/>
              </a:rPr>
              <a:t>고양이  </a:t>
            </a:r>
            <a:r>
              <a:rPr sz="1400" b="0">
                <a:solidFill>
                  <a:srgbClr val="1F2430"/>
                </a:solidFill>
                <a:latin typeface="맑은 고딕"/>
                <a:ea typeface="맑은 고딕"/>
              </a:rPr>
              <a:t>캐릭터 · 애니메이션 3종</a:t>
            </a:r>
          </a:p>
        </p:txBody>
      </p:sp>
      <p:sp>
        <p:nvSpPr>
          <p:cNvPr id="11" name="Badge"/>
          <p:cNvSpPr/>
          <p:nvPr/>
        </p:nvSpPr>
        <p:spPr>
          <a:xfrm>
            <a:off x="7498079" y="4517136"/>
            <a:ext cx="365760" cy="3657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4480559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1B2A4A"/>
                </a:solidFill>
                <a:latin typeface="맑은 고딕"/>
                <a:ea typeface="맑은 고딕"/>
              </a:rPr>
              <a:t>식탁  </a:t>
            </a:r>
            <a:r>
              <a:rPr sz="1400" b="0">
                <a:solidFill>
                  <a:srgbClr val="1F2430"/>
                </a:solidFill>
                <a:latin typeface="맑은 고딕"/>
                <a:ea typeface="맑은 고딕"/>
              </a:rPr>
              <a:t>배경 소품</a:t>
            </a:r>
          </a:p>
        </p:txBody>
      </p:sp>
      <p:sp>
        <p:nvSpPr>
          <p:cNvPr id="13" name="Badge"/>
          <p:cNvSpPr/>
          <p:nvPr/>
        </p:nvSpPr>
        <p:spPr>
          <a:xfrm>
            <a:off x="7498079" y="5065776"/>
            <a:ext cx="365760" cy="3657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502920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1B2A4A"/>
                </a:solidFill>
                <a:latin typeface="맑은 고딕"/>
                <a:ea typeface="맑은 고딕"/>
              </a:rPr>
              <a:t>도자기  </a:t>
            </a:r>
            <a:r>
              <a:rPr sz="1400" b="0">
                <a:solidFill>
                  <a:srgbClr val="1F2430"/>
                </a:solidFill>
                <a:latin typeface="맑은 고딕"/>
                <a:ea typeface="맑은 고딕"/>
              </a:rPr>
              <a:t>파괴 대상 · 3종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1680" y="274320"/>
            <a:ext cx="9722815" cy="603504"/>
          </a:xfrm>
        </p:spPr>
        <p:txBody>
          <a:bodyPr lIns="0" rIns="0" anchor="ctr"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맑은 고딕"/>
                <a:ea typeface="맑은 고딕"/>
              </a:rPr>
              <a:t>VARCO 3D 리소스 생성 ① 컨셉 이미지</a:t>
            </a:r>
          </a:p>
        </p:txBody>
      </p:sp>
      <p:sp>
        <p:nvSpPr>
          <p:cNvPr id="3" name="Tag"/>
          <p:cNvSpPr/>
          <p:nvPr/>
        </p:nvSpPr>
        <p:spPr>
          <a:xfrm>
            <a:off x="457200" y="38404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AI 리소스</a:t>
            </a:r>
          </a:p>
        </p:txBody>
      </p:sp>
      <p:sp>
        <p:nvSpPr>
          <p:cNvPr id="4" name="Progress"/>
          <p:cNvSpPr txBox="1"/>
          <p:nvPr/>
        </p:nvSpPr>
        <p:spPr>
          <a:xfrm>
            <a:off x="457200" y="644652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1 컨셉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1">
                <a:solidFill>
                  <a:srgbClr val="F28C28"/>
                </a:solidFill>
                <a:latin typeface="맑은 고딕"/>
                <a:ea typeface="맑은 고딕"/>
              </a:rPr>
              <a:t>2 리소스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3 정리 과정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4 결과</a:t>
            </a:r>
          </a:p>
        </p:txBody>
      </p:sp>
      <p:sp>
        <p:nvSpPr>
          <p:cNvPr id="5" name="PageNumber"/>
          <p:cNvSpPr txBox="1"/>
          <p:nvPr/>
        </p:nvSpPr>
        <p:spPr>
          <a:xfrm>
            <a:off x="10820095" y="6446520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5F6776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057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1B2A4A"/>
                </a:solidFill>
                <a:latin typeface="맑은 고딕"/>
                <a:ea typeface="맑은 고딕"/>
              </a:rPr>
              <a:t>고양이</a:t>
            </a:r>
          </a:p>
        </p:txBody>
      </p:sp>
      <p:pic>
        <p:nvPicPr>
          <p:cNvPr id="7" name="Picture 6" descr="Concept_cat_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2057400" cy="2057400"/>
          </a:xfrm>
          <a:prstGeom prst="roundRect">
            <a:avLst>
              <a:gd name="adj" fmla="val 5333"/>
            </a:avLst>
          </a:prstGeom>
          <a:ln w="38100">
            <a:solidFill>
              <a:srgbClr val="D5DDE8"/>
            </a:solidFill>
          </a:ln>
        </p:spPr>
      </p:pic>
      <p:pic>
        <p:nvPicPr>
          <p:cNvPr id="8" name="Picture 7" descr="Concept_cat_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0"/>
            <a:ext cx="2057400" cy="2057400"/>
          </a:xfrm>
          <a:prstGeom prst="roundRect">
            <a:avLst>
              <a:gd name="adj" fmla="val 5333"/>
            </a:avLst>
          </a:prstGeom>
          <a:ln w="38100">
            <a:solidFill>
              <a:srgbClr val="F28C28"/>
            </a:solidFill>
          </a:ln>
        </p:spPr>
      </p:pic>
      <p:sp>
        <p:nvSpPr>
          <p:cNvPr id="9" name="Chosen"/>
          <p:cNvSpPr/>
          <p:nvPr/>
        </p:nvSpPr>
        <p:spPr>
          <a:xfrm>
            <a:off x="566928" y="376732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선택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097280"/>
            <a:ext cx="2057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1B2A4A"/>
                </a:solidFill>
                <a:latin typeface="맑은 고딕"/>
                <a:ea typeface="맑은 고딕"/>
              </a:rPr>
              <a:t>식탁</a:t>
            </a:r>
          </a:p>
        </p:txBody>
      </p:sp>
      <p:pic>
        <p:nvPicPr>
          <p:cNvPr id="11" name="Picture 10" descr="Concept_table_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417320"/>
            <a:ext cx="2057400" cy="2057400"/>
          </a:xfrm>
          <a:prstGeom prst="roundRect">
            <a:avLst>
              <a:gd name="adj" fmla="val 5333"/>
            </a:avLst>
          </a:prstGeom>
          <a:ln w="38100">
            <a:solidFill>
              <a:srgbClr val="F28C28"/>
            </a:solidFill>
          </a:ln>
        </p:spPr>
      </p:pic>
      <p:sp>
        <p:nvSpPr>
          <p:cNvPr id="12" name="Chosen"/>
          <p:cNvSpPr/>
          <p:nvPr/>
        </p:nvSpPr>
        <p:spPr>
          <a:xfrm>
            <a:off x="2852928" y="152704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선택</a:t>
            </a:r>
          </a:p>
        </p:txBody>
      </p:sp>
      <p:pic>
        <p:nvPicPr>
          <p:cNvPr id="13" name="Picture 12" descr="Concept_table_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3657600"/>
            <a:ext cx="2057400" cy="2057400"/>
          </a:xfrm>
          <a:prstGeom prst="roundRect">
            <a:avLst>
              <a:gd name="adj" fmla="val 5333"/>
            </a:avLst>
          </a:prstGeom>
          <a:ln w="38100">
            <a:solidFill>
              <a:srgbClr val="D5DDE8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029200" y="1097280"/>
            <a:ext cx="2057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1B2A4A"/>
                </a:solidFill>
                <a:latin typeface="맑은 고딕"/>
                <a:ea typeface="맑은 고딕"/>
              </a:rPr>
              <a:t>도자기</a:t>
            </a:r>
          </a:p>
        </p:txBody>
      </p:sp>
      <p:pic>
        <p:nvPicPr>
          <p:cNvPr id="15" name="Picture 14" descr="Concept_vase_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417320"/>
            <a:ext cx="2057400" cy="2057400"/>
          </a:xfrm>
          <a:prstGeom prst="roundRect">
            <a:avLst>
              <a:gd name="adj" fmla="val 5333"/>
            </a:avLst>
          </a:prstGeom>
          <a:ln w="38100">
            <a:solidFill>
              <a:srgbClr val="F28C28"/>
            </a:solidFill>
          </a:ln>
        </p:spPr>
      </p:pic>
      <p:sp>
        <p:nvSpPr>
          <p:cNvPr id="16" name="Chosen"/>
          <p:cNvSpPr/>
          <p:nvPr/>
        </p:nvSpPr>
        <p:spPr>
          <a:xfrm>
            <a:off x="5138928" y="152704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선택</a:t>
            </a:r>
          </a:p>
        </p:txBody>
      </p:sp>
      <p:pic>
        <p:nvPicPr>
          <p:cNvPr id="17" name="Picture 16" descr="Concept_vase_B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657600"/>
            <a:ext cx="2057400" cy="2057400"/>
          </a:xfrm>
          <a:prstGeom prst="roundRect">
            <a:avLst>
              <a:gd name="adj" fmla="val 5333"/>
            </a:avLst>
          </a:prstGeom>
          <a:ln w="38100">
            <a:solidFill>
              <a:srgbClr val="D5DDE8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7498079" y="1188720"/>
            <a:ext cx="42364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>
                <a:solidFill>
                  <a:srgbClr val="1B2A4A"/>
                </a:solidFill>
                <a:latin typeface="맑은 고딕"/>
                <a:ea typeface="맑은 고딕"/>
              </a:rPr>
              <a:t>선택 기준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400" b="0">
                <a:solidFill>
                  <a:srgbClr val="1F2430"/>
                </a:solidFill>
                <a:latin typeface="맑은 고딕"/>
                <a:ea typeface="맑은 고딕"/>
              </a:rPr>
              <a:t>에셋마다 2장씩 생성해 1장 선택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400" b="0">
                <a:solidFill>
                  <a:srgbClr val="1F2430"/>
                </a:solidFill>
                <a:latin typeface="맑은 고딕"/>
                <a:ea typeface="맑은 고딕"/>
              </a:rPr>
              <a:t>공통 스타일: 카툰 · 장난감처럼 매끈한 형태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400" b="0">
                <a:solidFill>
                  <a:srgbClr val="1F2430"/>
                </a:solidFill>
                <a:latin typeface="맑은 고딕"/>
                <a:ea typeface="맑은 고딕"/>
              </a:rPr>
              <a:t>고양이는 자동 리깅을 위해 T-pose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400" b="0">
                <a:solidFill>
                  <a:srgbClr val="1F2430"/>
                </a:solidFill>
                <a:latin typeface="맑은 고딕"/>
                <a:ea typeface="맑은 고딕"/>
              </a:rPr>
              <a:t>식탁은 장식 없는 단순한 형태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400" b="0">
                <a:solidFill>
                  <a:srgbClr val="1F2430"/>
                </a:solidFill>
                <a:latin typeface="맑은 고딕"/>
                <a:ea typeface="맑은 고딕"/>
              </a:rPr>
              <a:t>도자기는 흰색 + 파랑으로 잘 보이게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1680" y="274320"/>
            <a:ext cx="9722815" cy="603504"/>
          </a:xfrm>
        </p:spPr>
        <p:txBody>
          <a:bodyPr lIns="0" rIns="0" anchor="ctr"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맑은 고딕"/>
                <a:ea typeface="맑은 고딕"/>
              </a:rPr>
              <a:t>VARCO 3D 리소스 생성 ② 3D 메시와 자동 리깅</a:t>
            </a:r>
          </a:p>
        </p:txBody>
      </p:sp>
      <p:sp>
        <p:nvSpPr>
          <p:cNvPr id="3" name="Tag"/>
          <p:cNvSpPr/>
          <p:nvPr/>
        </p:nvSpPr>
        <p:spPr>
          <a:xfrm>
            <a:off x="457200" y="38404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AI 리소스</a:t>
            </a:r>
          </a:p>
        </p:txBody>
      </p:sp>
      <p:sp>
        <p:nvSpPr>
          <p:cNvPr id="4" name="Progress"/>
          <p:cNvSpPr txBox="1"/>
          <p:nvPr/>
        </p:nvSpPr>
        <p:spPr>
          <a:xfrm>
            <a:off x="457200" y="644652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1 컨셉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1">
                <a:solidFill>
                  <a:srgbClr val="F28C28"/>
                </a:solidFill>
                <a:latin typeface="맑은 고딕"/>
                <a:ea typeface="맑은 고딕"/>
              </a:rPr>
              <a:t>2 리소스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3 정리 과정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4 결과</a:t>
            </a:r>
          </a:p>
        </p:txBody>
      </p:sp>
      <p:sp>
        <p:nvSpPr>
          <p:cNvPr id="5" name="PageNumber"/>
          <p:cNvSpPr txBox="1"/>
          <p:nvPr/>
        </p:nvSpPr>
        <p:spPr>
          <a:xfrm>
            <a:off x="10820095" y="6446520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5F6776"/>
                </a:solidFill>
                <a:latin typeface="맑은 고딕"/>
                <a:ea typeface="맑은 고딕"/>
              </a:rPr>
              <a:t>5</a:t>
            </a:r>
          </a:p>
        </p:txBody>
      </p:sp>
      <p:pic>
        <p:nvPicPr>
          <p:cNvPr id="6" name="Picture 5" descr="Captures_raw_cat_rigged_fro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198930"/>
            <a:ext cx="3545738" cy="3545738"/>
          </a:xfrm>
          <a:prstGeom prst="roundRect">
            <a:avLst>
              <a:gd name="adj" fmla="val 3094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457200" y="4983480"/>
            <a:ext cx="35457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>
                <a:solidFill>
                  <a:srgbClr val="1B2A4A"/>
                </a:solidFill>
                <a:latin typeface="맑은 고딕"/>
                <a:ea typeface="맑은 고딕"/>
              </a:rPr>
              <a:t>고양이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1F2430"/>
                </a:solidFill>
                <a:latin typeface="맑은 고딕"/>
                <a:ea typeface="맑은 고딕"/>
              </a:rPr>
              <a:t>50,000 tris · 자동 리깅</a:t>
            </a:r>
          </a:p>
        </p:txBody>
      </p:sp>
      <p:pic>
        <p:nvPicPr>
          <p:cNvPr id="8" name="Picture 7" descr="Captures_raw_table_raw_fro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978" y="1198930"/>
            <a:ext cx="3545738" cy="3545738"/>
          </a:xfrm>
          <a:prstGeom prst="roundRect">
            <a:avLst>
              <a:gd name="adj" fmla="val 3094"/>
            </a:avLst>
          </a:prstGeom>
        </p:spPr>
      </p:pic>
      <p:sp>
        <p:nvSpPr>
          <p:cNvPr id="9" name="TextBox 8"/>
          <p:cNvSpPr txBox="1"/>
          <p:nvPr/>
        </p:nvSpPr>
        <p:spPr>
          <a:xfrm>
            <a:off x="4322978" y="4983480"/>
            <a:ext cx="35457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>
                <a:solidFill>
                  <a:srgbClr val="1B2A4A"/>
                </a:solidFill>
                <a:latin typeface="맑은 고딕"/>
                <a:ea typeface="맑은 고딕"/>
              </a:rPr>
              <a:t>식탁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1F2430"/>
                </a:solidFill>
                <a:latin typeface="맑은 고딕"/>
                <a:ea typeface="맑은 고딕"/>
              </a:rPr>
              <a:t>20,000 tris</a:t>
            </a:r>
          </a:p>
        </p:txBody>
      </p:sp>
      <p:pic>
        <p:nvPicPr>
          <p:cNvPr id="10" name="Picture 9" descr="Captures_raw_vase_raw_fro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8756" y="1198930"/>
            <a:ext cx="3545738" cy="3545738"/>
          </a:xfrm>
          <a:prstGeom prst="roundRect">
            <a:avLst>
              <a:gd name="adj" fmla="val 3094"/>
            </a:avLst>
          </a:prstGeom>
        </p:spPr>
      </p:pic>
      <p:sp>
        <p:nvSpPr>
          <p:cNvPr id="11" name="TextBox 10"/>
          <p:cNvSpPr txBox="1"/>
          <p:nvPr/>
        </p:nvSpPr>
        <p:spPr>
          <a:xfrm>
            <a:off x="8188756" y="4983480"/>
            <a:ext cx="35457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>
                <a:solidFill>
                  <a:srgbClr val="1B2A4A"/>
                </a:solidFill>
                <a:latin typeface="맑은 고딕"/>
                <a:ea typeface="맑은 고딕"/>
              </a:rPr>
              <a:t>도자기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1F2430"/>
                </a:solidFill>
                <a:latin typeface="맑은 고딕"/>
                <a:ea typeface="맑은 고딕"/>
              </a:rPr>
              <a:t>20,000 tris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97880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5F6776"/>
                </a:solidFill>
                <a:latin typeface="맑은 고딕"/>
                <a:ea typeface="맑은 고딕"/>
              </a:rPr>
              <a:t>원본은 수정하지 않고 Source/에 보존 · 폴리곤을 넉넉히 생성하고 Blender에서 줄임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8568" y="274320"/>
            <a:ext cx="9475927" cy="603504"/>
          </a:xfrm>
        </p:spPr>
        <p:txBody>
          <a:bodyPr lIns="0" rIns="0" anchor="ctr"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맑은 고딕"/>
                <a:ea typeface="맑은 고딕"/>
              </a:rPr>
              <a:t>작업 방식: 요청 → bpy 스크립트 → Blender</a:t>
            </a:r>
          </a:p>
        </p:txBody>
      </p:sp>
      <p:sp>
        <p:nvSpPr>
          <p:cNvPr id="3" name="Tag"/>
          <p:cNvSpPr/>
          <p:nvPr/>
        </p:nvSpPr>
        <p:spPr>
          <a:xfrm>
            <a:off x="457200" y="384048"/>
            <a:ext cx="1618488" cy="38404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Claude 활용</a:t>
            </a:r>
          </a:p>
        </p:txBody>
      </p:sp>
      <p:sp>
        <p:nvSpPr>
          <p:cNvPr id="4" name="Progress"/>
          <p:cNvSpPr txBox="1"/>
          <p:nvPr/>
        </p:nvSpPr>
        <p:spPr>
          <a:xfrm>
            <a:off x="457200" y="644652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1 컨셉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2 리소스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1">
                <a:solidFill>
                  <a:srgbClr val="F28C28"/>
                </a:solidFill>
                <a:latin typeface="맑은 고딕"/>
                <a:ea typeface="맑은 고딕"/>
              </a:rPr>
              <a:t>3 정리 과정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4 결과</a:t>
            </a:r>
          </a:p>
        </p:txBody>
      </p:sp>
      <p:sp>
        <p:nvSpPr>
          <p:cNvPr id="5" name="PageNumber"/>
          <p:cNvSpPr txBox="1"/>
          <p:nvPr/>
        </p:nvSpPr>
        <p:spPr>
          <a:xfrm>
            <a:off x="10820095" y="6446520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5F6776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965960" cy="1463040"/>
          </a:xfrm>
          <a:prstGeom prst="roundRect">
            <a:avLst>
              <a:gd name="adj" fmla="val 875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Badge"/>
          <p:cNvSpPr/>
          <p:nvPr/>
        </p:nvSpPr>
        <p:spPr>
          <a:xfrm>
            <a:off x="621792" y="1536192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11680"/>
            <a:ext cx="1691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4A"/>
                </a:solidFill>
                <a:latin typeface="맑은 고딕"/>
                <a:ea typeface="맑은 고딕"/>
              </a:rPr>
              <a:t>요청문 작성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5F6776"/>
                </a:solidFill>
                <a:latin typeface="맑은 고딕"/>
                <a:ea typeface="맑은 고딕"/>
              </a:rPr>
              <a:t>Claude에게 요청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78024" y="1965960"/>
            <a:ext cx="192024" cy="274320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24912" y="1371600"/>
            <a:ext cx="1965960" cy="1463040"/>
          </a:xfrm>
          <a:prstGeom prst="roundRect">
            <a:avLst>
              <a:gd name="adj" fmla="val 875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Badge"/>
          <p:cNvSpPr/>
          <p:nvPr/>
        </p:nvSpPr>
        <p:spPr>
          <a:xfrm>
            <a:off x="2889504" y="1536192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2011680"/>
            <a:ext cx="1691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4A"/>
                </a:solidFill>
                <a:latin typeface="맑은 고딕"/>
                <a:ea typeface="맑은 고딕"/>
              </a:rPr>
              <a:t>bpy 스크립트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5F6776"/>
                </a:solidFill>
                <a:latin typeface="맑은 고딕"/>
                <a:ea typeface="맑은 고딕"/>
              </a:rPr>
              <a:t>Claude가 작성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745736" y="1965960"/>
            <a:ext cx="192024" cy="274320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92624" y="1371600"/>
            <a:ext cx="1965960" cy="1463040"/>
          </a:xfrm>
          <a:prstGeom prst="roundRect">
            <a:avLst>
              <a:gd name="adj" fmla="val 875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Badge"/>
          <p:cNvSpPr/>
          <p:nvPr/>
        </p:nvSpPr>
        <p:spPr>
          <a:xfrm>
            <a:off x="5157216" y="1536192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2011680"/>
            <a:ext cx="1691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4A"/>
                </a:solidFill>
                <a:latin typeface="맑은 고딕"/>
                <a:ea typeface="맑은 고딕"/>
              </a:rPr>
              <a:t>Blender 실행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5F6776"/>
                </a:solidFill>
                <a:latin typeface="맑은 고딕"/>
                <a:ea typeface="맑은 고딕"/>
              </a:rPr>
              <a:t>원본은 백업 보존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13447" y="1965960"/>
            <a:ext cx="192024" cy="274320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60336" y="1371600"/>
            <a:ext cx="1965960" cy="1463040"/>
          </a:xfrm>
          <a:prstGeom prst="roundRect">
            <a:avLst>
              <a:gd name="adj" fmla="val 875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Badge"/>
          <p:cNvSpPr/>
          <p:nvPr/>
        </p:nvSpPr>
        <p:spPr>
          <a:xfrm>
            <a:off x="7424927" y="1536192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7" y="2011680"/>
            <a:ext cx="1691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4A"/>
                </a:solidFill>
                <a:latin typeface="맑은 고딕"/>
                <a:ea typeface="맑은 고딕"/>
              </a:rPr>
              <a:t>검사·렌더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5F6776"/>
                </a:solidFill>
                <a:latin typeface="맑은 고딕"/>
                <a:ea typeface="맑은 고딕"/>
              </a:rPr>
              <a:t>수치 + 비교 이미지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281160" y="1965960"/>
            <a:ext cx="192024" cy="274320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28048" y="1371600"/>
            <a:ext cx="1965960" cy="1463040"/>
          </a:xfrm>
          <a:prstGeom prst="roundRect">
            <a:avLst>
              <a:gd name="adj" fmla="val 875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Badge"/>
          <p:cNvSpPr/>
          <p:nvPr/>
        </p:nvSpPr>
        <p:spPr>
          <a:xfrm>
            <a:off x="9692640" y="1536192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011680"/>
            <a:ext cx="1691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4A"/>
                </a:solidFill>
                <a:latin typeface="맑은 고딕"/>
                <a:ea typeface="맑은 고딕"/>
              </a:rPr>
              <a:t>FBX 출력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5F6776"/>
                </a:solidFill>
                <a:latin typeface="맑은 고딕"/>
                <a:ea typeface="맑은 고딕"/>
              </a:rPr>
              <a:t>다시 불러와 검증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57200" y="3291840"/>
          <a:ext cx="1127729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671"/>
                <a:gridCol w="7976623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스크립트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하는 일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00_import · 01_cat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원본 백업, 고양이 정리와 애니메이션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02_vase · 03b_vase_variants</a:t>
                      </a: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도자기 파편, 변형체 2종</a:t>
                      </a: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03_table_style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식탁 정리, 머티리얼 톤 통일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04_export</a:t>
                      </a: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최종 검수, FBX 출력과 재검증</a:t>
                      </a: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57200" y="5623560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5F6776"/>
                </a:solidFill>
                <a:latin typeface="맑은 고딕"/>
                <a:ea typeface="맑은 고딕"/>
              </a:rPr>
              <a:t>Blender/scripts/ · run_pipeline.sh 한 번으로 원본부터 다시 생성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463" y="274320"/>
            <a:ext cx="10308031" cy="603504"/>
          </a:xfrm>
        </p:spPr>
        <p:txBody>
          <a:bodyPr lIns="0" rIns="0" anchor="ctr"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맑은 고딕"/>
                <a:ea typeface="맑은 고딕"/>
              </a:rPr>
              <a:t>게임 규격 정리: 크기 · 원점 · 방향</a:t>
            </a:r>
          </a:p>
        </p:txBody>
      </p:sp>
      <p:sp>
        <p:nvSpPr>
          <p:cNvPr id="3" name="Tag"/>
          <p:cNvSpPr/>
          <p:nvPr/>
        </p:nvSpPr>
        <p:spPr>
          <a:xfrm>
            <a:off x="457200" y="384048"/>
            <a:ext cx="786384" cy="38404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규격</a:t>
            </a:r>
          </a:p>
        </p:txBody>
      </p:sp>
      <p:sp>
        <p:nvSpPr>
          <p:cNvPr id="4" name="Progress"/>
          <p:cNvSpPr txBox="1"/>
          <p:nvPr/>
        </p:nvSpPr>
        <p:spPr>
          <a:xfrm>
            <a:off x="457200" y="644652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1 컨셉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2 리소스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1">
                <a:solidFill>
                  <a:srgbClr val="F28C28"/>
                </a:solidFill>
                <a:latin typeface="맑은 고딕"/>
                <a:ea typeface="맑은 고딕"/>
              </a:rPr>
              <a:t>3 정리 과정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4 결과</a:t>
            </a:r>
          </a:p>
        </p:txBody>
      </p:sp>
      <p:sp>
        <p:nvSpPr>
          <p:cNvPr id="5" name="PageNumber"/>
          <p:cNvSpPr txBox="1"/>
          <p:nvPr/>
        </p:nvSpPr>
        <p:spPr>
          <a:xfrm>
            <a:off x="10820095" y="6446520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5F6776"/>
                </a:solidFill>
                <a:latin typeface="맑은 고딕"/>
                <a:ea typeface="맑은 고딕"/>
              </a:rPr>
              <a:t>7</a:t>
            </a:r>
          </a:p>
        </p:txBody>
      </p:sp>
      <p:pic>
        <p:nvPicPr>
          <p:cNvPr id="6" name="ScaleImage" descr="Captures_process_P6_크기_원점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589520" cy="3794760"/>
          </a:xfrm>
          <a:prstGeom prst="roundRect">
            <a:avLst>
              <a:gd name="adj" fmla="val 1927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457200" y="498348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5F6776"/>
                </a:solidFill>
                <a:latin typeface="맑은 고딕"/>
                <a:ea typeface="맑은 고딕"/>
              </a:rPr>
              <a:t>같은 축척 정면 · 왼쪽 막대 1 m · 빨간 점 = 원점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097280"/>
            <a:ext cx="3367735" cy="1051560"/>
          </a:xfrm>
          <a:prstGeom prst="roundRect">
            <a:avLst>
              <a:gd name="adj" fmla="val 10434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49640" y="1188720"/>
            <a:ext cx="30019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28C28"/>
                </a:solidFill>
                <a:latin typeface="맑은 고딕"/>
                <a:ea typeface="맑은 고딕"/>
              </a:rPr>
              <a:t>0.84 → 1.15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737359"/>
            <a:ext cx="300197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430"/>
                </a:solidFill>
                <a:latin typeface="맑은 고딕"/>
                <a:ea typeface="맑은 고딕"/>
              </a:rPr>
              <a:t>고양이 높이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2286000"/>
            <a:ext cx="3367735" cy="1051560"/>
          </a:xfrm>
          <a:prstGeom prst="roundRect">
            <a:avLst>
              <a:gd name="adj" fmla="val 10434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549640" y="2377440"/>
            <a:ext cx="30019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F28C28"/>
                </a:solidFill>
                <a:latin typeface="맑은 고딕"/>
                <a:ea typeface="맑은 고딕"/>
              </a:rPr>
              <a:t>1.80 × 0.60 × 0.62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926079"/>
            <a:ext cx="300197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430"/>
                </a:solidFill>
                <a:latin typeface="맑은 고딕"/>
                <a:ea typeface="맑은 고딕"/>
              </a:rPr>
              <a:t>식탁 (m)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3474720"/>
            <a:ext cx="3367735" cy="1051560"/>
          </a:xfrm>
          <a:prstGeom prst="roundRect">
            <a:avLst>
              <a:gd name="adj" fmla="val 10434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549640" y="3566160"/>
            <a:ext cx="30019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F28C28"/>
                </a:solidFill>
                <a:latin typeface="맑은 고딕"/>
                <a:ea typeface="맑은 고딕"/>
              </a:rPr>
              <a:t>발밑 · 바닥 중앙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114799"/>
            <a:ext cx="300197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430"/>
                </a:solidFill>
                <a:latin typeface="맑은 고딕"/>
                <a:ea typeface="맑은 고딕"/>
              </a:rPr>
              <a:t>원점 위치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4663440"/>
            <a:ext cx="3367735" cy="1051560"/>
          </a:xfrm>
          <a:prstGeom prst="roundRect">
            <a:avLst>
              <a:gd name="adj" fmla="val 10434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549640" y="4754879"/>
            <a:ext cx="30019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F28C28"/>
                </a:solidFill>
                <a:latin typeface="맑은 고딕"/>
                <a:ea typeface="맑은 고딕"/>
              </a:rPr>
              <a:t>Rot 0 · Scale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5303520"/>
            <a:ext cx="300197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430"/>
                </a:solidFill>
                <a:latin typeface="맑은 고딕"/>
                <a:ea typeface="맑은 고딕"/>
              </a:rPr>
              <a:t>Apply Transform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5063" y="274320"/>
            <a:ext cx="10079431" cy="603504"/>
          </a:xfrm>
        </p:spPr>
        <p:txBody>
          <a:bodyPr lIns="0" rIns="0" anchor="ctr"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맑은 고딕"/>
                <a:ea typeface="맑은 고딕"/>
              </a:rPr>
              <a:t>최적화: 폴리곤 줄이기</a:t>
            </a:r>
          </a:p>
        </p:txBody>
      </p:sp>
      <p:sp>
        <p:nvSpPr>
          <p:cNvPr id="3" name="Tag"/>
          <p:cNvSpPr/>
          <p:nvPr/>
        </p:nvSpPr>
        <p:spPr>
          <a:xfrm>
            <a:off x="457200" y="384048"/>
            <a:ext cx="1014983" cy="38404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최적화</a:t>
            </a:r>
          </a:p>
        </p:txBody>
      </p:sp>
      <p:sp>
        <p:nvSpPr>
          <p:cNvPr id="4" name="Progress"/>
          <p:cNvSpPr txBox="1"/>
          <p:nvPr/>
        </p:nvSpPr>
        <p:spPr>
          <a:xfrm>
            <a:off x="457200" y="644652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1 컨셉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2 리소스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1">
                <a:solidFill>
                  <a:srgbClr val="F28C28"/>
                </a:solidFill>
                <a:latin typeface="맑은 고딕"/>
                <a:ea typeface="맑은 고딕"/>
              </a:rPr>
              <a:t>3 정리 과정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4 결과</a:t>
            </a:r>
          </a:p>
        </p:txBody>
      </p:sp>
      <p:sp>
        <p:nvSpPr>
          <p:cNvPr id="5" name="PageNumber"/>
          <p:cNvSpPr txBox="1"/>
          <p:nvPr/>
        </p:nvSpPr>
        <p:spPr>
          <a:xfrm>
            <a:off x="10820095" y="6446520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5F6776"/>
                </a:solidFill>
                <a:latin typeface="맑은 고딕"/>
                <a:ea typeface="맑은 고딕"/>
              </a:rPr>
              <a:t>8</a:t>
            </a:r>
          </a:p>
        </p:txBody>
      </p:sp>
      <p:pic>
        <p:nvPicPr>
          <p:cNvPr id="6" name="WireImage" descr="Captures_process_P1_최적화_와이어프레임_전후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500587" cy="5257800"/>
          </a:xfrm>
          <a:prstGeom prst="roundRect">
            <a:avLst>
              <a:gd name="adj" fmla="val 2089"/>
            </a:avLst>
          </a:prstGeom>
        </p:spPr>
      </p:pic>
      <p:sp>
        <p:nvSpPr>
          <p:cNvPr id="7" name="Rounded Rectangle 6"/>
          <p:cNvSpPr/>
          <p:nvPr/>
        </p:nvSpPr>
        <p:spPr>
          <a:xfrm>
            <a:off x="4434840" y="1097280"/>
            <a:ext cx="2286000" cy="1051560"/>
          </a:xfrm>
          <a:prstGeom prst="roundRect">
            <a:avLst>
              <a:gd name="adj" fmla="val 10434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17720" y="118872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600" b="1">
                <a:solidFill>
                  <a:srgbClr val="F28C28"/>
                </a:solidFill>
                <a:latin typeface="맑은 고딕"/>
                <a:ea typeface="맑은 고딕"/>
              </a:rPr>
              <a:t>−60%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737359"/>
            <a:ext cx="1920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430"/>
                </a:solidFill>
                <a:latin typeface="맑은 고딕"/>
                <a:ea typeface="맑은 고딕"/>
              </a:rPr>
              <a:t>고양이 50k → 20k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22008" y="1097280"/>
            <a:ext cx="2286000" cy="1051560"/>
          </a:xfrm>
          <a:prstGeom prst="roundRect">
            <a:avLst>
              <a:gd name="adj" fmla="val 10434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04888" y="118872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600" b="1">
                <a:solidFill>
                  <a:srgbClr val="F28C28"/>
                </a:solidFill>
                <a:latin typeface="맑은 고딕"/>
                <a:ea typeface="맑은 고딕"/>
              </a:rPr>
              <a:t>−75%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4888" y="1737359"/>
            <a:ext cx="1920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430"/>
                </a:solidFill>
                <a:latin typeface="맑은 고딕"/>
                <a:ea typeface="맑은 고딕"/>
              </a:rPr>
              <a:t>식탁 20k → 5k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09176" y="1097280"/>
            <a:ext cx="2286000" cy="1051560"/>
          </a:xfrm>
          <a:prstGeom prst="roundRect">
            <a:avLst>
              <a:gd name="adj" fmla="val 10434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92055" y="118872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600" b="1">
                <a:solidFill>
                  <a:srgbClr val="F28C28"/>
                </a:solidFill>
                <a:latin typeface="맑은 고딕"/>
                <a:ea typeface="맑은 고딕"/>
              </a:rPr>
              <a:t>−70%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92055" y="1737359"/>
            <a:ext cx="1920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430"/>
                </a:solidFill>
                <a:latin typeface="맑은 고딕"/>
                <a:ea typeface="맑은 고딕"/>
              </a:rPr>
              <a:t>도자기 20k → 6k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606040"/>
            <a:ext cx="7299655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1">
                <a:solidFill>
                  <a:srgbClr val="1B2A4A"/>
                </a:solidFill>
                <a:latin typeface="맑은 고딕"/>
                <a:ea typeface="맑은 고딕"/>
              </a:rPr>
              <a:t>방법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500" b="0">
                <a:solidFill>
                  <a:srgbClr val="1F2430"/>
                </a:solidFill>
                <a:latin typeface="맑은 고딕"/>
                <a:ea typeface="맑은 고딕"/>
              </a:rPr>
              <a:t>갈라진 정점을 Merge by Distance로 병합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500" b="0">
                <a:solidFill>
                  <a:srgbClr val="1F2430"/>
                </a:solidFill>
                <a:latin typeface="맑은 고딕"/>
                <a:ea typeface="맑은 고딕"/>
              </a:rPr>
              <a:t>Decimate로 실루엣이 유지되는 만큼만 줄임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500" b="0">
                <a:solidFill>
                  <a:srgbClr val="1F2430"/>
                </a:solidFill>
                <a:latin typeface="맑은 고딕"/>
                <a:ea typeface="맑은 고딕"/>
              </a:rPr>
              <a:t>불필요한 조각(Icosphere) 삭제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2536" y="274320"/>
            <a:ext cx="9731959" cy="603504"/>
          </a:xfrm>
        </p:spPr>
        <p:txBody>
          <a:bodyPr lIns="0" rIns="0" anchor="ctr"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맑은 고딕"/>
                <a:ea typeface="맑은 고딕"/>
              </a:rPr>
              <a:t>편집·검수 ① 열린 엣지(구멍) 수정</a:t>
            </a:r>
          </a:p>
        </p:txBody>
      </p:sp>
      <p:sp>
        <p:nvSpPr>
          <p:cNvPr id="3" name="Tag"/>
          <p:cNvSpPr/>
          <p:nvPr/>
        </p:nvSpPr>
        <p:spPr>
          <a:xfrm>
            <a:off x="457200" y="384048"/>
            <a:ext cx="1362455" cy="38404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편집·검수</a:t>
            </a:r>
          </a:p>
        </p:txBody>
      </p:sp>
      <p:sp>
        <p:nvSpPr>
          <p:cNvPr id="4" name="Progress"/>
          <p:cNvSpPr txBox="1"/>
          <p:nvPr/>
        </p:nvSpPr>
        <p:spPr>
          <a:xfrm>
            <a:off x="457200" y="644652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1 컨셉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2 리소스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1">
                <a:solidFill>
                  <a:srgbClr val="F28C28"/>
                </a:solidFill>
                <a:latin typeface="맑은 고딕"/>
                <a:ea typeface="맑은 고딕"/>
              </a:rPr>
              <a:t>3 정리 과정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4 결과</a:t>
            </a:r>
          </a:p>
        </p:txBody>
      </p:sp>
      <p:sp>
        <p:nvSpPr>
          <p:cNvPr id="5" name="PageNumber"/>
          <p:cNvSpPr txBox="1"/>
          <p:nvPr/>
        </p:nvSpPr>
        <p:spPr>
          <a:xfrm>
            <a:off x="10820095" y="6446520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5F6776"/>
                </a:solidFill>
                <a:latin typeface="맑은 고딕"/>
                <a:ea typeface="맑은 고딕"/>
              </a:rPr>
              <a:t>9</a:t>
            </a:r>
          </a:p>
        </p:txBody>
      </p:sp>
      <p:pic>
        <p:nvPicPr>
          <p:cNvPr id="6" name="OpenEdgeImage" descr="Captures_process_P2_열린엣지_병합_전후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4928"/>
            <a:ext cx="7680960" cy="5113902"/>
          </a:xfrm>
          <a:prstGeom prst="roundRect">
            <a:avLst>
              <a:gd name="adj" fmla="val 1430"/>
            </a:avLst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097280"/>
            <a:ext cx="3322015" cy="1051560"/>
          </a:xfrm>
          <a:prstGeom prst="roundRect">
            <a:avLst>
              <a:gd name="adj" fmla="val 10434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95359" y="1188720"/>
            <a:ext cx="29562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28C28"/>
                </a:solidFill>
                <a:latin typeface="맑은 고딕"/>
                <a:ea typeface="맑은 고딕"/>
              </a:rPr>
              <a:t>8,244 →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59" y="1737359"/>
            <a:ext cx="29562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430"/>
                </a:solidFill>
                <a:latin typeface="맑은 고딕"/>
                <a:ea typeface="맑은 고딕"/>
              </a:rPr>
              <a:t>고양이 열린 엣지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286000"/>
            <a:ext cx="3322015" cy="1051560"/>
          </a:xfrm>
          <a:prstGeom prst="roundRect">
            <a:avLst>
              <a:gd name="adj" fmla="val 10434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95359" y="2377440"/>
            <a:ext cx="29562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28C28"/>
                </a:solidFill>
                <a:latin typeface="맑은 고딕"/>
                <a:ea typeface="맑은 고딕"/>
              </a:rPr>
              <a:t>4,636 →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59" y="2926079"/>
            <a:ext cx="29562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430"/>
                </a:solidFill>
                <a:latin typeface="맑은 고딕"/>
                <a:ea typeface="맑은 고딕"/>
              </a:rPr>
              <a:t>식탁 열린 엣지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474720"/>
            <a:ext cx="3322015" cy="1051560"/>
          </a:xfrm>
          <a:prstGeom prst="roundRect">
            <a:avLst>
              <a:gd name="adj" fmla="val 10434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595359" y="3566160"/>
            <a:ext cx="29562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28C28"/>
                </a:solidFill>
                <a:latin typeface="맑은 고딕"/>
                <a:ea typeface="맑은 고딕"/>
              </a:rPr>
              <a:t>2,260 →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59" y="4114799"/>
            <a:ext cx="29562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430"/>
                </a:solidFill>
                <a:latin typeface="맑은 고딕"/>
                <a:ea typeface="맑은 고딕"/>
              </a:rPr>
              <a:t>도자기 열린 엣지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754880"/>
            <a:ext cx="33220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1F2430"/>
                </a:solidFill>
                <a:latin typeface="맑은 고딕"/>
                <a:ea typeface="맑은 고딕"/>
              </a:rPr>
              <a:t>원본은 UV 이음매마다 갈라져 있었음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1F2430"/>
                </a:solidFill>
                <a:latin typeface="맑은 고딕"/>
                <a:ea typeface="맑은 고딕"/>
              </a:rPr>
              <a:t>노멀 검사: 뒤집힌 면 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2536" y="274320"/>
            <a:ext cx="9731959" cy="603504"/>
          </a:xfrm>
        </p:spPr>
        <p:txBody>
          <a:bodyPr lIns="0" rIns="0" anchor="ctr"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맑은 고딕"/>
                <a:ea typeface="맑은 고딕"/>
              </a:rPr>
              <a:t>편집·검수 ② 도자기 파츠 분리</a:t>
            </a:r>
          </a:p>
        </p:txBody>
      </p:sp>
      <p:sp>
        <p:nvSpPr>
          <p:cNvPr id="3" name="Tag"/>
          <p:cNvSpPr/>
          <p:nvPr/>
        </p:nvSpPr>
        <p:spPr>
          <a:xfrm>
            <a:off x="457200" y="384048"/>
            <a:ext cx="1362455" cy="38404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편집·검수</a:t>
            </a:r>
          </a:p>
        </p:txBody>
      </p:sp>
      <p:sp>
        <p:nvSpPr>
          <p:cNvPr id="4" name="Progress"/>
          <p:cNvSpPr txBox="1"/>
          <p:nvPr/>
        </p:nvSpPr>
        <p:spPr>
          <a:xfrm>
            <a:off x="457200" y="644652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1 컨셉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2 리소스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1">
                <a:solidFill>
                  <a:srgbClr val="F28C28"/>
                </a:solidFill>
                <a:latin typeface="맑은 고딕"/>
                <a:ea typeface="맑은 고딕"/>
              </a:rPr>
              <a:t>3 정리 과정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4 결과</a:t>
            </a:r>
          </a:p>
        </p:txBody>
      </p:sp>
      <p:sp>
        <p:nvSpPr>
          <p:cNvPr id="5" name="PageNumber"/>
          <p:cNvSpPr txBox="1"/>
          <p:nvPr/>
        </p:nvSpPr>
        <p:spPr>
          <a:xfrm>
            <a:off x="10820095" y="6446520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5F6776"/>
                </a:solidFill>
                <a:latin typeface="맑은 고딕"/>
                <a:ea typeface="맑은 고딕"/>
              </a:rPr>
              <a:t>10</a:t>
            </a:r>
          </a:p>
        </p:txBody>
      </p:sp>
      <p:pic>
        <p:nvPicPr>
          <p:cNvPr id="6" name="FractureImage" descr="Captures_process_P5_도자기_파츠분리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71088"/>
            <a:ext cx="11277295" cy="2795582"/>
          </a:xfrm>
          <a:prstGeom prst="roundRect">
            <a:avLst>
              <a:gd name="adj" fmla="val 2616"/>
            </a:avLst>
          </a:prstGeom>
        </p:spPr>
      </p:pic>
      <p:sp>
        <p:nvSpPr>
          <p:cNvPr id="7" name="Rounded Rectangle 6"/>
          <p:cNvSpPr/>
          <p:nvPr/>
        </p:nvSpPr>
        <p:spPr>
          <a:xfrm>
            <a:off x="457200" y="4114800"/>
            <a:ext cx="3576218" cy="1463040"/>
          </a:xfrm>
          <a:prstGeom prst="roundRect">
            <a:avLst>
              <a:gd name="adj" fmla="val 875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4251960"/>
            <a:ext cx="311901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28C28"/>
                </a:solidFill>
                <a:latin typeface="맑은 고딕"/>
                <a:ea typeface="맑은 고딕"/>
              </a:rPr>
              <a:t>9조각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430"/>
                </a:solidFill>
                <a:latin typeface="맑은 고딕"/>
                <a:ea typeface="맑은 고딕"/>
              </a:rPr>
              <a:t>작은 조각은 빼고 다시 잘라 9조각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7738" y="4114800"/>
            <a:ext cx="3576218" cy="1463040"/>
          </a:xfrm>
          <a:prstGeom prst="roundRect">
            <a:avLst>
              <a:gd name="adj" fmla="val 875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36338" y="4251960"/>
            <a:ext cx="311901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28C28"/>
                </a:solidFill>
                <a:latin typeface="맑은 고딕"/>
                <a:ea typeface="맑은 고딕"/>
              </a:rPr>
              <a:t>닫힌 메시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430"/>
                </a:solidFill>
                <a:latin typeface="맑은 고딕"/>
                <a:ea typeface="맑은 고딕"/>
              </a:rPr>
              <a:t>구멍·뒤집힌 면 0 → Unity 물리 사용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8276" y="4114800"/>
            <a:ext cx="3576218" cy="1463040"/>
          </a:xfrm>
          <a:prstGeom prst="roundRect">
            <a:avLst>
              <a:gd name="adj" fmla="val 875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86876" y="4251960"/>
            <a:ext cx="311901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28C28"/>
                </a:solidFill>
                <a:latin typeface="맑은 고딕"/>
                <a:ea typeface="맑은 고딕"/>
              </a:rPr>
              <a:t>같은 위치·재질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430"/>
                </a:solidFill>
                <a:latin typeface="맑은 고딕"/>
                <a:ea typeface="맑은 고딕"/>
              </a:rPr>
              <a:t>원본과 겹쳐 확인 가능, 단면은 흰 도자기 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5063" y="274320"/>
            <a:ext cx="10079431" cy="603504"/>
          </a:xfrm>
        </p:spPr>
        <p:txBody>
          <a:bodyPr lIns="0" rIns="0" anchor="ctr"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맑은 고딕"/>
                <a:ea typeface="맑은 고딕"/>
              </a:rPr>
              <a:t>스타일 통일: 색감과 거칠기</a:t>
            </a:r>
          </a:p>
        </p:txBody>
      </p:sp>
      <p:sp>
        <p:nvSpPr>
          <p:cNvPr id="3" name="Tag"/>
          <p:cNvSpPr/>
          <p:nvPr/>
        </p:nvSpPr>
        <p:spPr>
          <a:xfrm>
            <a:off x="457200" y="384048"/>
            <a:ext cx="1014983" cy="38404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스타일</a:t>
            </a:r>
          </a:p>
        </p:txBody>
      </p:sp>
      <p:sp>
        <p:nvSpPr>
          <p:cNvPr id="4" name="Progress"/>
          <p:cNvSpPr txBox="1"/>
          <p:nvPr/>
        </p:nvSpPr>
        <p:spPr>
          <a:xfrm>
            <a:off x="457200" y="644652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1 컨셉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2 리소스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1">
                <a:solidFill>
                  <a:srgbClr val="F28C28"/>
                </a:solidFill>
                <a:latin typeface="맑은 고딕"/>
                <a:ea typeface="맑은 고딕"/>
              </a:rPr>
              <a:t>3 정리 과정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4 결과</a:t>
            </a:r>
          </a:p>
        </p:txBody>
      </p:sp>
      <p:sp>
        <p:nvSpPr>
          <p:cNvPr id="5" name="PageNumber"/>
          <p:cNvSpPr txBox="1"/>
          <p:nvPr/>
        </p:nvSpPr>
        <p:spPr>
          <a:xfrm>
            <a:off x="10820095" y="6446520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5F6776"/>
                </a:solidFill>
                <a:latin typeface="맑은 고딕"/>
                <a:ea typeface="맑은 고딕"/>
              </a:rPr>
              <a:t>11</a:t>
            </a:r>
          </a:p>
        </p:txBody>
      </p:sp>
      <p:pic>
        <p:nvPicPr>
          <p:cNvPr id="6" name="MaterialImage" descr="Captures_process_P4_머티리얼_톤통일_전후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69968"/>
            <a:ext cx="7223759" cy="4809503"/>
          </a:xfrm>
          <a:prstGeom prst="roundRect">
            <a:avLst>
              <a:gd name="adj" fmla="val 1520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7955279" y="1097280"/>
            <a:ext cx="3779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B2A4A"/>
                </a:solidFill>
                <a:latin typeface="맑은 고딕"/>
                <a:ea typeface="맑은 고딕"/>
              </a:rPr>
              <a:t>고양이는 가장 눈에 띄게, 식탁은 중간 밝기, 도자기는 밝게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955279" y="2103120"/>
          <a:ext cx="3779213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586"/>
                <a:gridCol w="773021"/>
                <a:gridCol w="944803"/>
                <a:gridCol w="944803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에셋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채도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밝기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거칠기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고양이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0.65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식탁</a:t>
                      </a: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↓</a:t>
                      </a: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중간</a:t>
                      </a: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0.65</a:t>
                      </a: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도자기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0.35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55279" y="3977639"/>
            <a:ext cx="377921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1F2430"/>
                </a:solidFill>
                <a:latin typeface="맑은 고딕"/>
                <a:ea typeface="맑은 고딕"/>
              </a:rPr>
              <a:t>색 보정을 텍스처에 직접 적용 → Unity에서도 유지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1F2430"/>
                </a:solidFill>
                <a:latin typeface="맑은 고딕"/>
                <a:ea typeface="맑은 고딕"/>
              </a:rPr>
              <a:t>도자기만 광택(유약) 표현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2264" y="274320"/>
            <a:ext cx="9622231" cy="603504"/>
          </a:xfrm>
        </p:spPr>
        <p:txBody>
          <a:bodyPr lIns="0" rIns="0" anchor="ctr"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맑은 고딕"/>
                <a:ea typeface="맑은 고딕"/>
              </a:rPr>
              <a:t>애니메이션: Idle_Lean · Push_R · Push_L</a:t>
            </a:r>
          </a:p>
        </p:txBody>
      </p:sp>
      <p:sp>
        <p:nvSpPr>
          <p:cNvPr id="3" name="Tag"/>
          <p:cNvSpPr/>
          <p:nvPr/>
        </p:nvSpPr>
        <p:spPr>
          <a:xfrm>
            <a:off x="457200" y="384048"/>
            <a:ext cx="1472184" cy="38404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애니메이션</a:t>
            </a:r>
          </a:p>
        </p:txBody>
      </p:sp>
      <p:sp>
        <p:nvSpPr>
          <p:cNvPr id="4" name="Progress"/>
          <p:cNvSpPr txBox="1"/>
          <p:nvPr/>
        </p:nvSpPr>
        <p:spPr>
          <a:xfrm>
            <a:off x="457200" y="644652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1 컨셉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2 리소스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1">
                <a:solidFill>
                  <a:srgbClr val="F28C28"/>
                </a:solidFill>
                <a:latin typeface="맑은 고딕"/>
                <a:ea typeface="맑은 고딕"/>
              </a:rPr>
              <a:t>3 정리 과정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4 결과</a:t>
            </a:r>
          </a:p>
        </p:txBody>
      </p:sp>
      <p:sp>
        <p:nvSpPr>
          <p:cNvPr id="5" name="PageNumber"/>
          <p:cNvSpPr txBox="1"/>
          <p:nvPr/>
        </p:nvSpPr>
        <p:spPr>
          <a:xfrm>
            <a:off x="10820095" y="6446520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5F6776"/>
                </a:solidFill>
                <a:latin typeface="맑은 고딕"/>
                <a:ea typeface="맑은 고딕"/>
              </a:rPr>
              <a:t>12</a:t>
            </a:r>
          </a:p>
        </p:txBody>
      </p:sp>
      <p:pic>
        <p:nvPicPr>
          <p:cNvPr id="6" name="Picture 5" descr="Captures_process_P8_Idle_Lean_키포즈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6381385" cy="1581912"/>
          </a:xfrm>
          <a:prstGeom prst="roundRect">
            <a:avLst>
              <a:gd name="adj" fmla="val 4624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7086600" y="1371600"/>
            <a:ext cx="46478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F28C28"/>
                </a:solidFill>
                <a:latin typeface="맑은 고딕"/>
                <a:ea typeface="맑은 고딕"/>
              </a:rPr>
              <a:t>Idle_Lean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430"/>
                </a:solidFill>
                <a:latin typeface="맑은 고딕"/>
                <a:ea typeface="맑은 고딕"/>
              </a:rPr>
              <a:t>30프레임 · 반복</a:t>
            </a:r>
          </a:p>
        </p:txBody>
      </p:sp>
      <p:pic>
        <p:nvPicPr>
          <p:cNvPr id="8" name="Picture 7" descr="Captures_process_P7_Push_R_키포즈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24912"/>
            <a:ext cx="6381385" cy="1581912"/>
          </a:xfrm>
          <a:prstGeom prst="roundRect">
            <a:avLst>
              <a:gd name="adj" fmla="val 4624"/>
            </a:avLst>
          </a:prstGeom>
        </p:spPr>
      </p:pic>
      <p:sp>
        <p:nvSpPr>
          <p:cNvPr id="9" name="TextBox 8"/>
          <p:cNvSpPr txBox="1"/>
          <p:nvPr/>
        </p:nvSpPr>
        <p:spPr>
          <a:xfrm>
            <a:off x="7086600" y="3044952"/>
            <a:ext cx="46478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F28C28"/>
                </a:solidFill>
                <a:latin typeface="맑은 고딕"/>
                <a:ea typeface="맑은 고딕"/>
              </a:rPr>
              <a:t>Push_R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430"/>
                </a:solidFill>
                <a:latin typeface="맑은 고딕"/>
                <a:ea typeface="맑은 고딕"/>
              </a:rPr>
              <a:t>16프레임 · 1회</a:t>
            </a:r>
          </a:p>
        </p:txBody>
      </p:sp>
      <p:pic>
        <p:nvPicPr>
          <p:cNvPr id="10" name="Picture 9" descr="Captures_process_P9_Push_L_키포즈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98264"/>
            <a:ext cx="6381385" cy="1581912"/>
          </a:xfrm>
          <a:prstGeom prst="roundRect">
            <a:avLst>
              <a:gd name="adj" fmla="val 4624"/>
            </a:avLst>
          </a:prstGeom>
        </p:spPr>
      </p:pic>
      <p:sp>
        <p:nvSpPr>
          <p:cNvPr id="11" name="TextBox 10"/>
          <p:cNvSpPr txBox="1"/>
          <p:nvPr/>
        </p:nvSpPr>
        <p:spPr>
          <a:xfrm>
            <a:off x="7086600" y="4718304"/>
            <a:ext cx="46478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F28C28"/>
                </a:solidFill>
                <a:latin typeface="맑은 고딕"/>
                <a:ea typeface="맑은 고딕"/>
              </a:rPr>
              <a:t>Push_L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430"/>
                </a:solidFill>
                <a:latin typeface="맑은 고딕"/>
                <a:ea typeface="맑은 고딕"/>
              </a:rPr>
              <a:t>Push_R 좌우 반전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8568" y="274320"/>
            <a:ext cx="9475927" cy="603504"/>
          </a:xfrm>
        </p:spPr>
        <p:txBody>
          <a:bodyPr lIns="0" rIns="0" anchor="ctr"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맑은 고딕"/>
                <a:ea typeface="맑은 고딕"/>
              </a:rPr>
              <a:t>Claude 활용: 요청 기록</a:t>
            </a:r>
          </a:p>
        </p:txBody>
      </p:sp>
      <p:sp>
        <p:nvSpPr>
          <p:cNvPr id="3" name="Tag"/>
          <p:cNvSpPr/>
          <p:nvPr/>
        </p:nvSpPr>
        <p:spPr>
          <a:xfrm>
            <a:off x="457200" y="384048"/>
            <a:ext cx="1618488" cy="38404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Claude 활용</a:t>
            </a:r>
          </a:p>
        </p:txBody>
      </p:sp>
      <p:sp>
        <p:nvSpPr>
          <p:cNvPr id="4" name="Progress"/>
          <p:cNvSpPr txBox="1"/>
          <p:nvPr/>
        </p:nvSpPr>
        <p:spPr>
          <a:xfrm>
            <a:off x="457200" y="644652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1 컨셉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2 리소스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1">
                <a:solidFill>
                  <a:srgbClr val="F28C28"/>
                </a:solidFill>
                <a:latin typeface="맑은 고딕"/>
                <a:ea typeface="맑은 고딕"/>
              </a:rPr>
              <a:t>3 정리 과정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4 결과</a:t>
            </a:r>
          </a:p>
        </p:txBody>
      </p:sp>
      <p:sp>
        <p:nvSpPr>
          <p:cNvPr id="5" name="PageNumber"/>
          <p:cNvSpPr txBox="1"/>
          <p:nvPr/>
        </p:nvSpPr>
        <p:spPr>
          <a:xfrm>
            <a:off x="10820095" y="6446520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5F6776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3657600" cy="484632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30175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작업 브리프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300" b="0">
                <a:solidFill>
                  <a:srgbClr val="F28C28"/>
                </a:solidFill>
                <a:latin typeface="맑은 고딕"/>
                <a:ea typeface="맑은 고딕"/>
              </a:rPr>
              <a:t>요청문 1~4를 한 번에 전달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1  고양이 정리와 애니메이션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2  도자기 파편 제작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3  식탁 정리와 스타일 통일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4  최종 검수와 FBX 출력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143000"/>
            <a:ext cx="7223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B2A4A"/>
                </a:solidFill>
                <a:latin typeface="맑은 고딕"/>
                <a:ea typeface="맑은 고딕"/>
              </a:rPr>
              <a:t>작업 중 결과를 보고 따로 요청한 편집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7296912" cy="1280160"/>
          </a:xfrm>
          <a:prstGeom prst="roundRect">
            <a:avLst>
              <a:gd name="adj" fmla="val 10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Badge"/>
          <p:cNvSpPr/>
          <p:nvPr/>
        </p:nvSpPr>
        <p:spPr>
          <a:xfrm>
            <a:off x="4663440" y="205740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828800"/>
            <a:ext cx="6217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B2A4A"/>
                </a:solidFill>
                <a:latin typeface="맑은 고딕"/>
                <a:ea typeface="맑은 고딕"/>
              </a:rPr>
              <a:t>요청문 5 · 식탁 넓히고 낮추기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430"/>
                </a:solidFill>
                <a:latin typeface="맑은 고딕"/>
                <a:ea typeface="맑은 고딕"/>
              </a:rPr>
              <a:t>1.8 × 0.6 × 0.62 m, 팔 각도 맞춤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108960"/>
            <a:ext cx="7296912" cy="1280160"/>
          </a:xfrm>
          <a:prstGeom prst="roundRect">
            <a:avLst>
              <a:gd name="adj" fmla="val 10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Badge"/>
          <p:cNvSpPr/>
          <p:nvPr/>
        </p:nvSpPr>
        <p:spPr>
          <a:xfrm>
            <a:off x="4663440" y="352044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291840"/>
            <a:ext cx="6217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B2A4A"/>
                </a:solidFill>
                <a:latin typeface="맑은 고딕"/>
                <a:ea typeface="맑은 고딕"/>
              </a:rPr>
              <a:t>요청문 6 · 왼손 밀기 Push_L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430"/>
                </a:solidFill>
                <a:latin typeface="맑은 고딕"/>
                <a:ea typeface="맑은 고딕"/>
              </a:rPr>
              <a:t>Push_R 좌우 반전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4572000"/>
            <a:ext cx="7296912" cy="1280160"/>
          </a:xfrm>
          <a:prstGeom prst="roundRect">
            <a:avLst>
              <a:gd name="adj" fmla="val 10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Badge"/>
          <p:cNvSpPr/>
          <p:nvPr/>
        </p:nvSpPr>
        <p:spPr>
          <a:xfrm>
            <a:off x="4663440" y="498348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4754880"/>
            <a:ext cx="6217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B2A4A"/>
                </a:solidFill>
                <a:latin typeface="맑은 고딕"/>
                <a:ea typeface="맑은 고딕"/>
              </a:rPr>
              <a:t>요청문 7 · 도자기 변형체 2종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430"/>
                </a:solidFill>
                <a:latin typeface="맑은 고딕"/>
                <a:ea typeface="맑은 고딕"/>
              </a:rPr>
              <a:t>늘린 청자 · 누른 분홍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8568" y="274320"/>
            <a:ext cx="9475927" cy="603504"/>
          </a:xfrm>
        </p:spPr>
        <p:txBody>
          <a:bodyPr lIns="0" rIns="0" anchor="ctr"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맑은 고딕"/>
                <a:ea typeface="맑은 고딕"/>
              </a:rPr>
              <a:t>요청문 5 · 식탁 넓히고 낮추기</a:t>
            </a:r>
          </a:p>
        </p:txBody>
      </p:sp>
      <p:sp>
        <p:nvSpPr>
          <p:cNvPr id="3" name="Tag"/>
          <p:cNvSpPr/>
          <p:nvPr/>
        </p:nvSpPr>
        <p:spPr>
          <a:xfrm>
            <a:off x="457200" y="384048"/>
            <a:ext cx="1618488" cy="38404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Claude 활용</a:t>
            </a:r>
          </a:p>
        </p:txBody>
      </p:sp>
      <p:sp>
        <p:nvSpPr>
          <p:cNvPr id="4" name="Progress"/>
          <p:cNvSpPr txBox="1"/>
          <p:nvPr/>
        </p:nvSpPr>
        <p:spPr>
          <a:xfrm>
            <a:off x="457200" y="644652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1 컨셉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2 리소스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1">
                <a:solidFill>
                  <a:srgbClr val="F28C28"/>
                </a:solidFill>
                <a:latin typeface="맑은 고딕"/>
                <a:ea typeface="맑은 고딕"/>
              </a:rPr>
              <a:t>3 정리 과정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4 결과</a:t>
            </a:r>
          </a:p>
        </p:txBody>
      </p:sp>
      <p:sp>
        <p:nvSpPr>
          <p:cNvPr id="5" name="PageNumber"/>
          <p:cNvSpPr txBox="1"/>
          <p:nvPr/>
        </p:nvSpPr>
        <p:spPr>
          <a:xfrm>
            <a:off x="10820095" y="6446520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5F6776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669280" cy="2377440"/>
          </a:xfrm>
          <a:prstGeom prst="roundRect">
            <a:avLst>
              <a:gd name="adj" fmla="val 6153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5029200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F28C28"/>
                </a:solidFill>
                <a:latin typeface="맑은 고딕"/>
                <a:ea typeface="맑은 고딕"/>
              </a:rPr>
              <a:t>요청문 원문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맑은 고딕"/>
                <a:ea typeface="맑은 고딕"/>
              </a:rPr>
              <a:t>“책상 좀 넓히고 높이 좀 낮출 수 있나? 이 게임은 도자기가 책상에 점점 많이 생성되고 그걸 다 깨는 재미인데 책상이 너무 작네. 고양이 팔이 안닿으려나”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5669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1">
                <a:solidFill>
                  <a:srgbClr val="1B2A4A"/>
                </a:solidFill>
                <a:latin typeface="맑은 고딕"/>
                <a:ea typeface="맑은 고딕"/>
              </a:rPr>
              <a:t>결과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500" b="0">
                <a:solidFill>
                  <a:srgbClr val="1F2430"/>
                </a:solidFill>
                <a:latin typeface="맑은 고딕"/>
                <a:ea typeface="맑은 고딕"/>
              </a:rPr>
              <a:t>식탁 1.24 × 0.87 × 0.72 → 1.80 × 0.60 × 0.62 m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500" b="0">
                <a:solidFill>
                  <a:srgbClr val="1F2430"/>
                </a:solidFill>
                <a:latin typeface="맑은 고딕"/>
                <a:ea typeface="맑은 고딕"/>
              </a:rPr>
              <a:t>다리는 그대로 두고 가운데만 늘림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500" b="0">
                <a:solidFill>
                  <a:srgbClr val="1F2430"/>
                </a:solidFill>
                <a:latin typeface="맑은 고딕"/>
                <a:ea typeface="맑은 고딕"/>
              </a:rPr>
              <a:t>낮아진 식탁에 맞춰 팔 각도 자동 조정</a:t>
            </a:r>
          </a:p>
        </p:txBody>
      </p:sp>
      <p:pic>
        <p:nvPicPr>
          <p:cNvPr id="9" name="RequestImage" descr="Captures_after_layout_push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124636"/>
            <a:ext cx="5287975" cy="2974486"/>
          </a:xfrm>
          <a:prstGeom prst="roundRect">
            <a:avLst>
              <a:gd name="adj" fmla="val 2459"/>
            </a:avLst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8568" y="274320"/>
            <a:ext cx="9475927" cy="603504"/>
          </a:xfrm>
        </p:spPr>
        <p:txBody>
          <a:bodyPr lIns="0" rIns="0" anchor="ctr"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맑은 고딕"/>
                <a:ea typeface="맑은 고딕"/>
              </a:rPr>
              <a:t>요청문 6 · 왼손 밀기 Push_L</a:t>
            </a:r>
          </a:p>
        </p:txBody>
      </p:sp>
      <p:sp>
        <p:nvSpPr>
          <p:cNvPr id="3" name="Tag"/>
          <p:cNvSpPr/>
          <p:nvPr/>
        </p:nvSpPr>
        <p:spPr>
          <a:xfrm>
            <a:off x="457200" y="384048"/>
            <a:ext cx="1618488" cy="38404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Claude 활용</a:t>
            </a:r>
          </a:p>
        </p:txBody>
      </p:sp>
      <p:sp>
        <p:nvSpPr>
          <p:cNvPr id="4" name="Progress"/>
          <p:cNvSpPr txBox="1"/>
          <p:nvPr/>
        </p:nvSpPr>
        <p:spPr>
          <a:xfrm>
            <a:off x="457200" y="644652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1 컨셉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2 리소스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1">
                <a:solidFill>
                  <a:srgbClr val="F28C28"/>
                </a:solidFill>
                <a:latin typeface="맑은 고딕"/>
                <a:ea typeface="맑은 고딕"/>
              </a:rPr>
              <a:t>3 정리 과정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4 결과</a:t>
            </a:r>
          </a:p>
        </p:txBody>
      </p:sp>
      <p:sp>
        <p:nvSpPr>
          <p:cNvPr id="5" name="PageNumber"/>
          <p:cNvSpPr txBox="1"/>
          <p:nvPr/>
        </p:nvSpPr>
        <p:spPr>
          <a:xfrm>
            <a:off x="10820095" y="6446520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5F6776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669280" cy="2377440"/>
          </a:xfrm>
          <a:prstGeom prst="roundRect">
            <a:avLst>
              <a:gd name="adj" fmla="val 6153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5029200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F28C28"/>
                </a:solidFill>
                <a:latin typeface="맑은 고딕"/>
                <a:ea typeface="맑은 고딕"/>
              </a:rPr>
              <a:t>요청문 원문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맑은 고딕"/>
                <a:ea typeface="맑은 고딕"/>
              </a:rPr>
              <a:t>“왼손 PUSH_1도 만들어줘. PUSH_R이랑 동일하게, 손만 바꿔서 만들어주면 돼.”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5669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1">
                <a:solidFill>
                  <a:srgbClr val="1B2A4A"/>
                </a:solidFill>
                <a:latin typeface="맑은 고딕"/>
                <a:ea typeface="맑은 고딕"/>
              </a:rPr>
              <a:t>결과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500" b="0">
                <a:solidFill>
                  <a:srgbClr val="1F2430"/>
                </a:solidFill>
                <a:latin typeface="맑은 고딕"/>
                <a:ea typeface="맑은 고딕"/>
              </a:rPr>
              <a:t>Push_R을 좌우 반전해 Push_L 생성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500" b="0">
                <a:solidFill>
                  <a:srgbClr val="1F2430"/>
                </a:solidFill>
                <a:latin typeface="맑은 고딕"/>
                <a:ea typeface="맑은 고딕"/>
              </a:rPr>
              <a:t>길이·타이밍 동일 (16프레임)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500" b="0">
                <a:solidFill>
                  <a:srgbClr val="1F2430"/>
                </a:solidFill>
                <a:latin typeface="맑은 고딕"/>
                <a:ea typeface="맑은 고딕"/>
              </a:rPr>
              <a:t>Unity 클립 3개</a:t>
            </a:r>
          </a:p>
        </p:txBody>
      </p:sp>
      <p:pic>
        <p:nvPicPr>
          <p:cNvPr id="9" name="RequestImage" descr="Captures_process_P9_Push_L_키포즈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956449"/>
            <a:ext cx="5287975" cy="1310861"/>
          </a:xfrm>
          <a:prstGeom prst="roundRect">
            <a:avLst>
              <a:gd name="adj" fmla="val 5580"/>
            </a:avLst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8568" y="274320"/>
            <a:ext cx="9475927" cy="603504"/>
          </a:xfrm>
        </p:spPr>
        <p:txBody>
          <a:bodyPr lIns="0" rIns="0" anchor="ctr"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맑은 고딕"/>
                <a:ea typeface="맑은 고딕"/>
              </a:rPr>
              <a:t>요청문 7 · 도자기 변형체 2종</a:t>
            </a:r>
          </a:p>
        </p:txBody>
      </p:sp>
      <p:sp>
        <p:nvSpPr>
          <p:cNvPr id="3" name="Tag"/>
          <p:cNvSpPr/>
          <p:nvPr/>
        </p:nvSpPr>
        <p:spPr>
          <a:xfrm>
            <a:off x="457200" y="384048"/>
            <a:ext cx="1618488" cy="38404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Claude 활용</a:t>
            </a:r>
          </a:p>
        </p:txBody>
      </p:sp>
      <p:sp>
        <p:nvSpPr>
          <p:cNvPr id="4" name="Progress"/>
          <p:cNvSpPr txBox="1"/>
          <p:nvPr/>
        </p:nvSpPr>
        <p:spPr>
          <a:xfrm>
            <a:off x="457200" y="644652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1 컨셉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2 리소스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1">
                <a:solidFill>
                  <a:srgbClr val="F28C28"/>
                </a:solidFill>
                <a:latin typeface="맑은 고딕"/>
                <a:ea typeface="맑은 고딕"/>
              </a:rPr>
              <a:t>3 정리 과정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4 결과</a:t>
            </a:r>
          </a:p>
        </p:txBody>
      </p:sp>
      <p:sp>
        <p:nvSpPr>
          <p:cNvPr id="5" name="PageNumber"/>
          <p:cNvSpPr txBox="1"/>
          <p:nvPr/>
        </p:nvSpPr>
        <p:spPr>
          <a:xfrm>
            <a:off x="10820095" y="6446520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5F6776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669280" cy="2377440"/>
          </a:xfrm>
          <a:prstGeom prst="roundRect">
            <a:avLst>
              <a:gd name="adj" fmla="val 6153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5029200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F28C28"/>
                </a:solidFill>
                <a:latin typeface="맑은 고딕"/>
                <a:ea typeface="맑은 고딕"/>
              </a:rPr>
              <a:t>요청문 원문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맑은 고딕"/>
                <a:ea typeface="맑은 고딕"/>
              </a:rPr>
              <a:t>“그 도자기 같은 것만 나오면 너무 지루하니까, 색깔과 모양이 조금씩 다른 변형체를 2개만 추가해줘. 조금 늘리거나 누르는 식으로.”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5669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1">
                <a:solidFill>
                  <a:srgbClr val="1B2A4A"/>
                </a:solidFill>
                <a:latin typeface="맑은 고딕"/>
                <a:ea typeface="맑은 고딕"/>
              </a:rPr>
              <a:t>결과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500" b="0">
                <a:solidFill>
                  <a:srgbClr val="1F2430"/>
                </a:solidFill>
                <a:latin typeface="맑은 고딕"/>
                <a:ea typeface="맑은 고딕"/>
              </a:rPr>
              <a:t>늘린 청자(초록) · 누른 분홍 2종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500" b="0">
                <a:solidFill>
                  <a:srgbClr val="1F2430"/>
                </a:solidFill>
                <a:latin typeface="맑은 고딕"/>
                <a:ea typeface="맑은 고딕"/>
              </a:rPr>
              <a:t>파편도 같이 변형해 그대로 깨짐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500" b="0">
                <a:solidFill>
                  <a:srgbClr val="1F2430"/>
                </a:solidFill>
                <a:latin typeface="맑은 고딕"/>
                <a:ea typeface="맑은 고딕"/>
              </a:rPr>
              <a:t>FBX 2종 추가</a:t>
            </a:r>
          </a:p>
        </p:txBody>
      </p:sp>
      <p:pic>
        <p:nvPicPr>
          <p:cNvPr id="9" name="RequestImage" descr="Captures_process_P10_도자기_변형체_crop2_24_98_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716780"/>
            <a:ext cx="5287975" cy="1790199"/>
          </a:xfrm>
          <a:prstGeom prst="roundRect">
            <a:avLst>
              <a:gd name="adj" fmla="val 4086"/>
            </a:avLst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463" y="274320"/>
            <a:ext cx="10308031" cy="603504"/>
          </a:xfrm>
        </p:spPr>
        <p:txBody>
          <a:bodyPr lIns="0" rIns="0" anchor="ctr"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맑은 고딕"/>
                <a:ea typeface="맑은 고딕"/>
              </a:rPr>
              <a:t>시행착오와 해결</a:t>
            </a:r>
          </a:p>
        </p:txBody>
      </p:sp>
      <p:sp>
        <p:nvSpPr>
          <p:cNvPr id="3" name="Tag"/>
          <p:cNvSpPr/>
          <p:nvPr/>
        </p:nvSpPr>
        <p:spPr>
          <a:xfrm>
            <a:off x="457200" y="384048"/>
            <a:ext cx="786384" cy="38404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과정</a:t>
            </a:r>
          </a:p>
        </p:txBody>
      </p:sp>
      <p:sp>
        <p:nvSpPr>
          <p:cNvPr id="4" name="Progress"/>
          <p:cNvSpPr txBox="1"/>
          <p:nvPr/>
        </p:nvSpPr>
        <p:spPr>
          <a:xfrm>
            <a:off x="457200" y="644652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1 컨셉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2 리소스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1">
                <a:solidFill>
                  <a:srgbClr val="F28C28"/>
                </a:solidFill>
                <a:latin typeface="맑은 고딕"/>
                <a:ea typeface="맑은 고딕"/>
              </a:rPr>
              <a:t>3 정리 과정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4 결과</a:t>
            </a:r>
          </a:p>
        </p:txBody>
      </p:sp>
      <p:sp>
        <p:nvSpPr>
          <p:cNvPr id="5" name="PageNumber"/>
          <p:cNvSpPr txBox="1"/>
          <p:nvPr/>
        </p:nvSpPr>
        <p:spPr>
          <a:xfrm>
            <a:off x="10820095" y="6446520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5F6776"/>
                </a:solidFill>
                <a:latin typeface="맑은 고딕"/>
                <a:ea typeface="맑은 고딕"/>
              </a:rP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77294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119"/>
                <a:gridCol w="5776175"/>
              </a:tblGrid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문제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해결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도자기 파편이 6조각만 생성됨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위치 계산을 갱신한 뒤 다시 자름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작은 파편을 합치자 메시가 깨짐</a:t>
                      </a: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합치지 않고 그 조각을 빼고 다시 자름</a:t>
                      </a: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Unity 클립 이름이 CAT_Rig|Idle_Lean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출력 방식을 바꿔 Idle_Lean으로 정리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원본 백업의 색까지 바뀜</a:t>
                      </a: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백업 머티리얼을 따로 복사</a:t>
                      </a: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낮춘 식탁에서 앞발이 떠 있음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식탁 높이에 맞춰 팔 각도 자동 계산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2536" y="274320"/>
            <a:ext cx="9731959" cy="603504"/>
          </a:xfrm>
        </p:spPr>
        <p:txBody>
          <a:bodyPr lIns="0" rIns="0" anchor="ctr"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맑은 고딕"/>
                <a:ea typeface="맑은 고딕"/>
              </a:rPr>
              <a:t>Unity에서 정리 전·후 비교</a:t>
            </a:r>
          </a:p>
        </p:txBody>
      </p:sp>
      <p:sp>
        <p:nvSpPr>
          <p:cNvPr id="3" name="Tag"/>
          <p:cNvSpPr/>
          <p:nvPr/>
        </p:nvSpPr>
        <p:spPr>
          <a:xfrm>
            <a:off x="457200" y="384048"/>
            <a:ext cx="1362455" cy="38404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결과 검증</a:t>
            </a:r>
          </a:p>
        </p:txBody>
      </p:sp>
      <p:sp>
        <p:nvSpPr>
          <p:cNvPr id="4" name="Progress"/>
          <p:cNvSpPr txBox="1"/>
          <p:nvPr/>
        </p:nvSpPr>
        <p:spPr>
          <a:xfrm>
            <a:off x="457200" y="644652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1 컨셉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2 리소스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3 정리 과정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1">
                <a:solidFill>
                  <a:srgbClr val="F28C28"/>
                </a:solidFill>
                <a:latin typeface="맑은 고딕"/>
                <a:ea typeface="맑은 고딕"/>
              </a:rPr>
              <a:t>4 결과</a:t>
            </a:r>
          </a:p>
        </p:txBody>
      </p:sp>
      <p:sp>
        <p:nvSpPr>
          <p:cNvPr id="5" name="PageNumber"/>
          <p:cNvSpPr txBox="1"/>
          <p:nvPr/>
        </p:nvSpPr>
        <p:spPr>
          <a:xfrm>
            <a:off x="10820095" y="6446520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5F6776"/>
                </a:solidFill>
                <a:latin typeface="맑은 고딕"/>
                <a:ea typeface="맑은 고딕"/>
              </a:rPr>
              <a:t>18</a:t>
            </a:r>
          </a:p>
        </p:txBody>
      </p:sp>
      <p:pic>
        <p:nvPicPr>
          <p:cNvPr id="6" name="UnityImage" descr="Captures_unity_Unity_Compare_BeforeAf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8138160" cy="4069080"/>
          </a:xfrm>
          <a:prstGeom prst="roundRect">
            <a:avLst>
              <a:gd name="adj" fmla="val 1797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12080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5F6776"/>
                </a:solidFill>
                <a:latin typeface="맑은 고딕"/>
                <a:ea typeface="맑은 고딕"/>
              </a:rPr>
              <a:t>Assets/Scenes/Compare_BeforeAfter.unity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097280"/>
            <a:ext cx="2864815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700" b="1">
                <a:solidFill>
                  <a:srgbClr val="C0392B"/>
                </a:solidFill>
                <a:latin typeface="맑은 고딕"/>
                <a:ea typeface="맑은 고딕"/>
              </a:rPr>
              <a:t>정리 전</a:t>
            </a:r>
          </a:p>
          <a:p>
            <a:pPr algn="l" marL="201168" indent="-201168">
              <a:lnSpc>
                <a:spcPct val="110000"/>
              </a:lnSpc>
              <a:spcAft>
                <a:spcPts val="500"/>
              </a:spcAft>
              <a:buChar char="•"/>
            </a:pPr>
            <a:r>
              <a:rPr sz="1400" b="0">
                <a:solidFill>
                  <a:srgbClr val="1F2430"/>
                </a:solidFill>
                <a:latin typeface="맑은 고딕"/>
                <a:ea typeface="맑은 고딕"/>
              </a:rPr>
              <a:t>원점이 중앙 → 바닥에 묻힘</a:t>
            </a:r>
          </a:p>
          <a:p>
            <a:pPr algn="l" marL="201168" indent="-201168">
              <a:lnSpc>
                <a:spcPct val="110000"/>
              </a:lnSpc>
              <a:spcAft>
                <a:spcPts val="500"/>
              </a:spcAft>
              <a:buChar char="•"/>
            </a:pPr>
            <a:r>
              <a:rPr sz="1400" b="0">
                <a:solidFill>
                  <a:srgbClr val="1F2430"/>
                </a:solidFill>
                <a:latin typeface="맑은 고딕"/>
                <a:ea typeface="맑은 고딕"/>
              </a:rPr>
              <a:t>실제 비율 아님</a:t>
            </a:r>
          </a:p>
          <a:p>
            <a:pPr algn="l" marL="201168" indent="-201168">
              <a:lnSpc>
                <a:spcPct val="110000"/>
              </a:lnSpc>
              <a:spcAft>
                <a:spcPts val="1600"/>
              </a:spcAft>
              <a:buChar char="•"/>
            </a:pPr>
            <a:r>
              <a:rPr sz="1400" b="0">
                <a:solidFill>
                  <a:srgbClr val="1F2430"/>
                </a:solidFill>
                <a:latin typeface="맑은 고딕"/>
                <a:ea typeface="맑은 고딕"/>
              </a:rPr>
              <a:t>90,000 tris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700" b="1">
                <a:solidFill>
                  <a:srgbClr val="2E7D4F"/>
                </a:solidFill>
                <a:latin typeface="맑은 고딕"/>
                <a:ea typeface="맑은 고딕"/>
              </a:rPr>
              <a:t>정리 후</a:t>
            </a:r>
          </a:p>
          <a:p>
            <a:pPr algn="l" marL="201168" indent="-201168">
              <a:lnSpc>
                <a:spcPct val="110000"/>
              </a:lnSpc>
              <a:spcAft>
                <a:spcPts val="500"/>
              </a:spcAft>
              <a:buChar char="•"/>
            </a:pPr>
            <a:r>
              <a:rPr sz="1400" b="0">
                <a:solidFill>
                  <a:srgbClr val="1F2430"/>
                </a:solidFill>
                <a:latin typeface="맑은 고딕"/>
                <a:ea typeface="맑은 고딕"/>
              </a:rPr>
              <a:t>원점 바닥 · Rot 0 · Scale 1</a:t>
            </a:r>
          </a:p>
          <a:p>
            <a:pPr algn="l" marL="201168" indent="-201168">
              <a:lnSpc>
                <a:spcPct val="110000"/>
              </a:lnSpc>
              <a:spcAft>
                <a:spcPts val="500"/>
              </a:spcAft>
              <a:buChar char="•"/>
            </a:pPr>
            <a:r>
              <a:rPr sz="1400" b="0">
                <a:solidFill>
                  <a:srgbClr val="1F2430"/>
                </a:solidFill>
                <a:latin typeface="맑은 고딕"/>
                <a:ea typeface="맑은 고딕"/>
              </a:rPr>
              <a:t>실제 비율</a:t>
            </a:r>
          </a:p>
          <a:p>
            <a:pPr algn="l" marL="201168" indent="-201168">
              <a:lnSpc>
                <a:spcPct val="110000"/>
              </a:lnSpc>
              <a:spcAft>
                <a:spcPts val="500"/>
              </a:spcAft>
              <a:buChar char="•"/>
            </a:pPr>
            <a:r>
              <a:rPr sz="1400" b="0">
                <a:solidFill>
                  <a:srgbClr val="1F2430"/>
                </a:solidFill>
                <a:latin typeface="맑은 고딕"/>
                <a:ea typeface="맑은 고딕"/>
              </a:rPr>
              <a:t>31,000 tris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463" y="274320"/>
            <a:ext cx="10308031" cy="603504"/>
          </a:xfrm>
        </p:spPr>
        <p:txBody>
          <a:bodyPr lIns="0" rIns="0" anchor="ctr" wrap="square"/>
          <a:lstStyle/>
          <a:p>
            <a:pPr algn="l"/>
            <a:r>
              <a:rPr sz="3000" b="1">
                <a:solidFill>
                  <a:srgbClr val="1B2A4A"/>
                </a:solidFill>
                <a:latin typeface="맑은 고딕"/>
                <a:ea typeface="맑은 고딕"/>
              </a:rPr>
              <a:t>최종 결과물: Unity용 FBX 5종</a:t>
            </a:r>
          </a:p>
        </p:txBody>
      </p:sp>
      <p:sp>
        <p:nvSpPr>
          <p:cNvPr id="3" name="Tag"/>
          <p:cNvSpPr/>
          <p:nvPr/>
        </p:nvSpPr>
        <p:spPr>
          <a:xfrm>
            <a:off x="457200" y="384048"/>
            <a:ext cx="786384" cy="38404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결과</a:t>
            </a:r>
          </a:p>
        </p:txBody>
      </p:sp>
      <p:sp>
        <p:nvSpPr>
          <p:cNvPr id="4" name="Progress"/>
          <p:cNvSpPr txBox="1"/>
          <p:nvPr/>
        </p:nvSpPr>
        <p:spPr>
          <a:xfrm>
            <a:off x="457200" y="644652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1 컨셉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2 리소스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3 정리 과정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1">
                <a:solidFill>
                  <a:srgbClr val="F28C28"/>
                </a:solidFill>
                <a:latin typeface="맑은 고딕"/>
                <a:ea typeface="맑은 고딕"/>
              </a:rPr>
              <a:t>4 결과</a:t>
            </a:r>
          </a:p>
        </p:txBody>
      </p:sp>
      <p:sp>
        <p:nvSpPr>
          <p:cNvPr id="5" name="PageNumber"/>
          <p:cNvSpPr txBox="1"/>
          <p:nvPr/>
        </p:nvSpPr>
        <p:spPr>
          <a:xfrm>
            <a:off x="10820095" y="6446520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5F6776"/>
                </a:solidFill>
                <a:latin typeface="맑은 고딕"/>
                <a:ea typeface="맑은 고딕"/>
              </a:rPr>
              <a:t>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43000"/>
          <a:ext cx="69494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657600"/>
                <a:gridCol w="1097280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파일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tris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Cat_Player.fbx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고양이 + Idle_Lean · Push_R · Push_L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20,000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Table_Main.fbx</a:t>
                      </a: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식탁</a:t>
                      </a: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5,000</a:t>
                      </a: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Vase_Set.fbx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도자기 + 파편 9조각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6,000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Vase_Tall_Set.fbx</a:t>
                      </a: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늘린 청자 + 파편 9조각</a:t>
                      </a: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6,000</a:t>
                      </a: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Vase_Squat_Set.fbx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누른 분홍 + 파편 9조각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30"/>
                          </a:solidFill>
                          <a:latin typeface="맑은 고딕"/>
                          <a:ea typeface="맑은 고딕"/>
                        </a:rPr>
                        <a:t>6,000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212080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5F6776"/>
                </a:solidFill>
                <a:latin typeface="맑은 고딕"/>
                <a:ea typeface="맑은 고딕"/>
              </a:rPr>
              <a:t>도자기 tris는 원본 기준 (파편 묶음은 각 8,500 별도)</a:t>
            </a:r>
          </a:p>
        </p:txBody>
      </p:sp>
      <p:pic>
        <p:nvPicPr>
          <p:cNvPr id="8" name="FinalImage" descr="Captures_after_layout_push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43000"/>
            <a:ext cx="4007815" cy="2254396"/>
          </a:xfrm>
          <a:prstGeom prst="roundRect">
            <a:avLst>
              <a:gd name="adj" fmla="val 3244"/>
            </a:avLst>
          </a:prstGeom>
        </p:spPr>
      </p:pic>
      <p:pic>
        <p:nvPicPr>
          <p:cNvPr id="9" name="VariantImage" descr="Captures_process_P10_도자기_변형체_crop2_24_98_7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3703320"/>
            <a:ext cx="4007815" cy="1356812"/>
          </a:xfrm>
          <a:prstGeom prst="roundRect">
            <a:avLst>
              <a:gd name="adj" fmla="val 5391"/>
            </a:avLst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603504"/>
          </a:xfrm>
        </p:spPr>
        <p:txBody>
          <a:bodyPr lIns="0" rIns="0" anchor="ctr"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정리와 다음 단계</a:t>
            </a:r>
          </a:p>
        </p:txBody>
      </p:sp>
      <p:sp>
        <p:nvSpPr>
          <p:cNvPr id="3" name="Progress"/>
          <p:cNvSpPr txBox="1"/>
          <p:nvPr/>
        </p:nvSpPr>
        <p:spPr>
          <a:xfrm>
            <a:off x="457200" y="644652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1 컨셉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2 리소스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0">
                <a:solidFill>
                  <a:srgbClr val="5F6776"/>
                </a:solidFill>
                <a:latin typeface="맑은 고딕"/>
                <a:ea typeface="맑은 고딕"/>
              </a:rPr>
              <a:t>3 정리 과정</a:t>
            </a:r>
            <a:r>
              <a:rPr sz="1100" b="0">
                <a:solidFill>
                  <a:srgbClr val="D5DDE8"/>
                </a:solidFill>
                <a:latin typeface="맑은 고딕"/>
                <a:ea typeface="맑은 고딕"/>
              </a:rPr>
              <a:t>   ›   </a:t>
            </a:r>
            <a:r>
              <a:rPr sz="1100" b="1">
                <a:solidFill>
                  <a:srgbClr val="F28C28"/>
                </a:solidFill>
                <a:latin typeface="맑은 고딕"/>
                <a:ea typeface="맑은 고딕"/>
              </a:rPr>
              <a:t>4 결과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651760" cy="1188720"/>
          </a:xfrm>
          <a:prstGeom prst="roundRect">
            <a:avLst>
              <a:gd name="adj" fmla="val 9230"/>
            </a:avLst>
          </a:prstGeom>
          <a:solidFill>
            <a:srgbClr val="26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200" b="1">
                <a:solidFill>
                  <a:srgbClr val="F28C28"/>
                </a:solidFill>
                <a:latin typeface="맑은 고딕"/>
                <a:ea typeface="맑은 고딕"/>
              </a:rPr>
              <a:t>5종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DDE6F2"/>
                </a:solidFill>
                <a:latin typeface="맑은 고딕"/>
                <a:ea typeface="맑은 고딕"/>
              </a:rPr>
              <a:t>FBX (캐릭터 1 · 소품 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9272" y="1280160"/>
            <a:ext cx="2651760" cy="1188720"/>
          </a:xfrm>
          <a:prstGeom prst="roundRect">
            <a:avLst>
              <a:gd name="adj" fmla="val 9230"/>
            </a:avLst>
          </a:prstGeom>
          <a:solidFill>
            <a:srgbClr val="26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502152" y="137160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200" b="1">
                <a:solidFill>
                  <a:srgbClr val="F28C28"/>
                </a:solidFill>
                <a:latin typeface="맑은 고딕"/>
                <a:ea typeface="맑은 고딕"/>
              </a:rPr>
              <a:t>90k → 31k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2152" y="2057400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DDE6F2"/>
                </a:solidFill>
                <a:latin typeface="맑은 고딕"/>
                <a:ea typeface="맑은 고딕"/>
              </a:rPr>
              <a:t>폴리곤 (파편 제외)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280160"/>
            <a:ext cx="2651760" cy="1188720"/>
          </a:xfrm>
          <a:prstGeom prst="roundRect">
            <a:avLst>
              <a:gd name="adj" fmla="val 9230"/>
            </a:avLst>
          </a:prstGeom>
          <a:solidFill>
            <a:srgbClr val="26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64224" y="137160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200" b="1">
                <a:solidFill>
                  <a:srgbClr val="F28C28"/>
                </a:solidFill>
                <a:latin typeface="맑은 고딕"/>
                <a:ea typeface="맑은 고딕"/>
              </a:rPr>
              <a:t>7건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057400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DDE6F2"/>
                </a:solidFill>
                <a:latin typeface="맑은 고딕"/>
                <a:ea typeface="맑은 고딕"/>
              </a:rPr>
              <a:t>Claude 요청문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1280160"/>
            <a:ext cx="2651760" cy="1188720"/>
          </a:xfrm>
          <a:prstGeom prst="roundRect">
            <a:avLst>
              <a:gd name="adj" fmla="val 9230"/>
            </a:avLst>
          </a:prstGeom>
          <a:solidFill>
            <a:srgbClr val="26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26296" y="137160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200" b="1">
                <a:solidFill>
                  <a:srgbClr val="F28C28"/>
                </a:solidFill>
                <a:latin typeface="맑은 고딕"/>
                <a:ea typeface="맑은 고딕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6296" y="2057400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DDE6F2"/>
                </a:solidFill>
                <a:latin typeface="맑은 고딕"/>
                <a:ea typeface="맑은 고딕"/>
              </a:rPr>
              <a:t>구멍 · 뒤집힌 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1127729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  <a:latin typeface="맑은 고딕"/>
                <a:ea typeface="맑은 고딕"/>
              </a:rPr>
              <a:t>2차 Unity 평가에서 할 일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har char="•"/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</a:rPr>
              <a:t>고양이 좌우 이동 + 양손 밀기 입력 연결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har char="•"/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</a:rPr>
              <a:t>도자기 3종을 식탁 위에 점점 많이 생성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har char="•"/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</a:rPr>
              <a:t>파편에 충돌체와 물리를 붙여 깨지는 연출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893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CAD6E8"/>
                </a:solidFill>
                <a:latin typeface="맑은 고딕"/>
                <a:ea typeface="맑은 고딕"/>
              </a:rPr>
              <a:t>https://github.com/dnfltkagudwp-sys/Purrcelain-Panic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urrcelain">
      <a:dk1>
        <a:srgbClr val="1F2430"/>
      </a:dk1>
      <a:lt1>
        <a:srgbClr val="FFFFFF"/>
      </a:lt1>
      <a:dk2>
        <a:srgbClr val="1B2A4A"/>
      </a:dk2>
      <a:lt2>
        <a:srgbClr val="EEF3F9"/>
      </a:lt2>
      <a:accent1>
        <a:srgbClr val="F28C28"/>
      </a:accent1>
      <a:accent2>
        <a:srgbClr val="2F6FB5"/>
      </a:accent2>
      <a:accent3>
        <a:srgbClr val="7FA7D9"/>
      </a:accent3>
      <a:accent4>
        <a:srgbClr val="8B5E3C"/>
      </a:accent4>
      <a:accent5>
        <a:srgbClr val="4CAF7A"/>
      </a:accent5>
      <a:accent6>
        <a:srgbClr val="D9534F"/>
      </a:accent6>
      <a:hlink>
        <a:srgbClr val="2F6FB5"/>
      </a:hlink>
      <a:folHlink>
        <a:srgbClr val="6D5BA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